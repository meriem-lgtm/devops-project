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Poppins Bold" charset="1" panose="00000800000000000000"/>
      <p:regular r:id="rId28"/>
    </p:embeddedFont>
    <p:embeddedFont>
      <p:font typeface="Computer Says No" charset="1" panose="00000400000000000000"/>
      <p:regular r:id="rId29"/>
    </p:embeddedFont>
    <p:embeddedFont>
      <p:font typeface="Poppins Light" charset="1" panose="00000400000000000000"/>
      <p:regular r:id="rId30"/>
    </p:embeddedFont>
    <p:embeddedFont>
      <p:font typeface="Poppins" charset="1" panose="00000500000000000000"/>
      <p:regular r:id="rId31"/>
    </p:embeddedFont>
    <p:embeddedFont>
      <p:font typeface="Poppins Bold Italics" charset="1" panose="000008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5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25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35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35.png" Type="http://schemas.openxmlformats.org/officeDocument/2006/relationships/image"/><Relationship Id="rId5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3916" r="0" b="-868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576678" y="6478598"/>
            <a:ext cx="9636327" cy="7923202"/>
          </a:xfrm>
          <a:custGeom>
            <a:avLst/>
            <a:gdLst/>
            <a:ahLst/>
            <a:cxnLst/>
            <a:rect r="r" b="b" t="t" l="l"/>
            <a:pathLst>
              <a:path h="7923202" w="9636327">
                <a:moveTo>
                  <a:pt x="0" y="0"/>
                </a:moveTo>
                <a:lnTo>
                  <a:pt x="9636327" y="0"/>
                </a:lnTo>
                <a:lnTo>
                  <a:pt x="9636327" y="7923202"/>
                </a:lnTo>
                <a:lnTo>
                  <a:pt x="0" y="7923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68070" y="-2818506"/>
            <a:ext cx="4825046" cy="4219769"/>
          </a:xfrm>
          <a:custGeom>
            <a:avLst/>
            <a:gdLst/>
            <a:ahLst/>
            <a:cxnLst/>
            <a:rect r="r" b="b" t="t" l="l"/>
            <a:pathLst>
              <a:path h="4219769" w="4825046">
                <a:moveTo>
                  <a:pt x="0" y="0"/>
                </a:moveTo>
                <a:lnTo>
                  <a:pt x="4825046" y="0"/>
                </a:lnTo>
                <a:lnTo>
                  <a:pt x="4825046" y="4219769"/>
                </a:lnTo>
                <a:lnTo>
                  <a:pt x="0" y="421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61481" y="-4114800"/>
            <a:ext cx="10008973" cy="8229600"/>
          </a:xfrm>
          <a:custGeom>
            <a:avLst/>
            <a:gdLst/>
            <a:ahLst/>
            <a:cxnLst/>
            <a:rect r="r" b="b" t="t" l="l"/>
            <a:pathLst>
              <a:path h="8229600" w="10008973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860236" y="6972064"/>
            <a:ext cx="6926813" cy="3076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9"/>
              </a:lnSpc>
            </a:pPr>
            <a:r>
              <a:rPr lang="en-US" b="true" sz="2714" spc="57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Réalisé par :</a:t>
            </a:r>
          </a:p>
          <a:p>
            <a:pPr algn="ctr">
              <a:lnSpc>
                <a:spcPts val="3799"/>
              </a:lnSpc>
            </a:pPr>
            <a:r>
              <a:rPr lang="en-US" b="true" sz="2714" spc="57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HASNAE AMEJOUD</a:t>
            </a:r>
          </a:p>
          <a:p>
            <a:pPr algn="ctr">
              <a:lnSpc>
                <a:spcPts val="3799"/>
              </a:lnSpc>
            </a:pPr>
            <a:r>
              <a:rPr lang="en-US" b="true" sz="2714" spc="57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MERIEM BERRIMA</a:t>
            </a:r>
          </a:p>
          <a:p>
            <a:pPr algn="ctr">
              <a:lnSpc>
                <a:spcPts val="3799"/>
              </a:lnSpc>
            </a:pPr>
            <a:r>
              <a:rPr lang="en-US" b="true" sz="2714" spc="57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Hajar Bentaib</a:t>
            </a:r>
          </a:p>
          <a:p>
            <a:pPr algn="ctr">
              <a:lnSpc>
                <a:spcPts val="3799"/>
              </a:lnSpc>
            </a:pPr>
            <a:r>
              <a:rPr lang="en-US" b="true" sz="2714" spc="57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Hassan El Hadi</a:t>
            </a:r>
          </a:p>
          <a:p>
            <a:pPr algn="ctr">
              <a:lnSpc>
                <a:spcPts val="561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391635" y="1333816"/>
            <a:ext cx="3948234" cy="1724379"/>
          </a:xfrm>
          <a:custGeom>
            <a:avLst/>
            <a:gdLst/>
            <a:ahLst/>
            <a:cxnLst/>
            <a:rect r="r" b="b" t="t" l="l"/>
            <a:pathLst>
              <a:path h="1724379" w="3948234">
                <a:moveTo>
                  <a:pt x="0" y="0"/>
                </a:moveTo>
                <a:lnTo>
                  <a:pt x="3948234" y="0"/>
                </a:lnTo>
                <a:lnTo>
                  <a:pt x="3948234" y="1724379"/>
                </a:lnTo>
                <a:lnTo>
                  <a:pt x="0" y="17243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65511" y="9452433"/>
            <a:ext cx="4729467" cy="4047169"/>
          </a:xfrm>
          <a:custGeom>
            <a:avLst/>
            <a:gdLst/>
            <a:ahLst/>
            <a:cxnLst/>
            <a:rect r="r" b="b" t="t" l="l"/>
            <a:pathLst>
              <a:path h="4047169" w="4729467">
                <a:moveTo>
                  <a:pt x="0" y="0"/>
                </a:moveTo>
                <a:lnTo>
                  <a:pt x="4729467" y="0"/>
                </a:lnTo>
                <a:lnTo>
                  <a:pt x="4729467" y="4047169"/>
                </a:lnTo>
                <a:lnTo>
                  <a:pt x="0" y="40471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82482" y="2909162"/>
            <a:ext cx="9660725" cy="2993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4"/>
              </a:lnSpc>
            </a:pPr>
            <a:r>
              <a:rPr lang="en-US" sz="7880">
                <a:solidFill>
                  <a:srgbClr val="6866E1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MISE EN PLACE D'UNE INFRASTRUCTURE DEVOPS AVEC CI/CD, KUBERNETES, ET MONITORING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82549" y="8901159"/>
            <a:ext cx="10583418" cy="1416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7"/>
              </a:lnSpc>
            </a:pPr>
            <a:r>
              <a:rPr lang="en-US" sz="7148">
                <a:solidFill>
                  <a:srgbClr val="6866E1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ENCADRANTE : PR. F. BENABBOU</a:t>
            </a:r>
          </a:p>
          <a:p>
            <a:pPr algn="ctr">
              <a:lnSpc>
                <a:spcPts val="5147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12695976" y="782735"/>
            <a:ext cx="7573219" cy="8296504"/>
          </a:xfrm>
          <a:custGeom>
            <a:avLst/>
            <a:gdLst/>
            <a:ahLst/>
            <a:cxnLst/>
            <a:rect r="r" b="b" t="t" l="l"/>
            <a:pathLst>
              <a:path h="8296504" w="7573219">
                <a:moveTo>
                  <a:pt x="7573219" y="0"/>
                </a:moveTo>
                <a:lnTo>
                  <a:pt x="0" y="0"/>
                </a:lnTo>
                <a:lnTo>
                  <a:pt x="0" y="8296504"/>
                </a:lnTo>
                <a:lnTo>
                  <a:pt x="7573219" y="8296504"/>
                </a:lnTo>
                <a:lnTo>
                  <a:pt x="7573219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3069" y="242675"/>
            <a:ext cx="5726139" cy="2500874"/>
          </a:xfrm>
          <a:custGeom>
            <a:avLst/>
            <a:gdLst/>
            <a:ahLst/>
            <a:cxnLst/>
            <a:rect r="r" b="b" t="t" l="l"/>
            <a:pathLst>
              <a:path h="2500874" w="5726139">
                <a:moveTo>
                  <a:pt x="0" y="0"/>
                </a:moveTo>
                <a:lnTo>
                  <a:pt x="5726138" y="0"/>
                </a:lnTo>
                <a:lnTo>
                  <a:pt x="5726138" y="2500874"/>
                </a:lnTo>
                <a:lnTo>
                  <a:pt x="0" y="25008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 flipV="true">
            <a:off x="17259300" y="1028700"/>
            <a:ext cx="0" cy="578647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4234201"/>
            <a:ext cx="9897232" cy="5006268"/>
            <a:chOff x="0" y="0"/>
            <a:chExt cx="13196309" cy="6675023"/>
          </a:xfrm>
        </p:grpSpPr>
        <p:sp>
          <p:nvSpPr>
            <p:cNvPr name="AutoShape 5" id="5"/>
            <p:cNvSpPr/>
            <p:nvPr/>
          </p:nvSpPr>
          <p:spPr>
            <a:xfrm flipV="true">
              <a:off x="25400" y="0"/>
              <a:ext cx="0" cy="6675023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6649623"/>
              <a:ext cx="13196309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925932" y="5660310"/>
            <a:ext cx="6819964" cy="5836080"/>
          </a:xfrm>
          <a:custGeom>
            <a:avLst/>
            <a:gdLst/>
            <a:ahLst/>
            <a:cxnLst/>
            <a:rect r="r" b="b" t="t" l="l"/>
            <a:pathLst>
              <a:path h="5836080" w="6819964">
                <a:moveTo>
                  <a:pt x="0" y="0"/>
                </a:moveTo>
                <a:lnTo>
                  <a:pt x="6819964" y="0"/>
                </a:lnTo>
                <a:lnTo>
                  <a:pt x="6819964" y="5836081"/>
                </a:lnTo>
                <a:lnTo>
                  <a:pt x="0" y="5836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51351" y="1742073"/>
            <a:ext cx="7164041" cy="2362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83"/>
              </a:lnSpc>
              <a:spcBef>
                <a:spcPct val="0"/>
              </a:spcBef>
            </a:pPr>
            <a:r>
              <a:rPr lang="en-US" sz="11922">
                <a:solidFill>
                  <a:srgbClr val="6866E1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PLAN DE PRÉSENTATION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54667" y="4350204"/>
            <a:ext cx="4955361" cy="469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7625" indent="-238813" lvl="1">
              <a:lnSpc>
                <a:spcPts val="3097"/>
              </a:lnSpc>
              <a:buFont typeface="Arial"/>
              <a:buChar char="•"/>
            </a:pPr>
            <a:r>
              <a:rPr lang="en-US" sz="221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Introduction &amp; Contexte</a:t>
            </a:r>
          </a:p>
          <a:p>
            <a:pPr algn="l" marL="477625" indent="-238813" lvl="1">
              <a:lnSpc>
                <a:spcPts val="3097"/>
              </a:lnSpc>
              <a:buFont typeface="Arial"/>
              <a:buChar char="•"/>
            </a:pPr>
            <a:r>
              <a:rPr lang="en-US" sz="221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Infrastructure as Code (IaC) avec Terraform</a:t>
            </a:r>
          </a:p>
          <a:p>
            <a:pPr algn="l" marL="477625" indent="-238813" lvl="1">
              <a:lnSpc>
                <a:spcPts val="3097"/>
              </a:lnSpc>
              <a:buFont typeface="Arial"/>
              <a:buChar char="•"/>
            </a:pPr>
            <a:r>
              <a:rPr lang="en-US" sz="221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Automatisation de la Configuration avec Ansible</a:t>
            </a:r>
          </a:p>
          <a:p>
            <a:pPr algn="l" marL="477625" indent="-238813" lvl="1">
              <a:lnSpc>
                <a:spcPts val="3097"/>
              </a:lnSpc>
              <a:buFont typeface="Arial"/>
              <a:buChar char="•"/>
            </a:pPr>
            <a:r>
              <a:rPr lang="en-US" sz="221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Développement &amp; Conteneurisation (Docker)</a:t>
            </a:r>
          </a:p>
          <a:p>
            <a:pPr algn="l" marL="477625" indent="-238813" lvl="1">
              <a:lnSpc>
                <a:spcPts val="3097"/>
              </a:lnSpc>
              <a:buFont typeface="Arial"/>
              <a:buChar char="•"/>
            </a:pPr>
            <a:r>
              <a:rPr lang="en-US" sz="221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Orchestration avec Kubernetes</a:t>
            </a:r>
          </a:p>
          <a:p>
            <a:pPr algn="l" marL="477625" indent="-238813" lvl="1">
              <a:lnSpc>
                <a:spcPts val="3097"/>
              </a:lnSpc>
              <a:buFont typeface="Arial"/>
              <a:buChar char="•"/>
            </a:pPr>
            <a:r>
              <a:rPr lang="en-US" sz="221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Pipeline CI/CD avec GitHub Actions</a:t>
            </a:r>
          </a:p>
          <a:p>
            <a:pPr algn="l" marL="477625" indent="-238813" lvl="1">
              <a:lnSpc>
                <a:spcPts val="3097"/>
              </a:lnSpc>
              <a:buFont typeface="Arial"/>
              <a:buChar char="•"/>
            </a:pPr>
            <a:r>
              <a:rPr lang="en-US" sz="221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Validation &amp; Tests</a:t>
            </a:r>
          </a:p>
          <a:p>
            <a:pPr algn="l" marL="477625" indent="-238813" lvl="1">
              <a:lnSpc>
                <a:spcPts val="3097"/>
              </a:lnSpc>
              <a:buFont typeface="Arial"/>
              <a:buChar char="•"/>
            </a:pPr>
            <a:r>
              <a:rPr lang="en-US" sz="221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Conclusion &amp; Perspectives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15392" y="4332540"/>
            <a:ext cx="922084" cy="4717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52"/>
              </a:lnSpc>
            </a:pPr>
            <a:r>
              <a:rPr lang="en-US" sz="33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  <a:p>
            <a:pPr algn="r">
              <a:lnSpc>
                <a:spcPts val="4652"/>
              </a:lnSpc>
            </a:pPr>
            <a:r>
              <a:rPr lang="en-US" sz="33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  <a:p>
            <a:pPr algn="r">
              <a:lnSpc>
                <a:spcPts val="4652"/>
              </a:lnSpc>
            </a:pPr>
            <a:r>
              <a:rPr lang="en-US" sz="33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  <a:p>
            <a:pPr algn="r">
              <a:lnSpc>
                <a:spcPts val="4652"/>
              </a:lnSpc>
            </a:pPr>
            <a:r>
              <a:rPr lang="en-US" sz="33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  <a:p>
            <a:pPr algn="r">
              <a:lnSpc>
                <a:spcPts val="4652"/>
              </a:lnSpc>
            </a:pPr>
            <a:r>
              <a:rPr lang="en-US" sz="33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</a:p>
          <a:p>
            <a:pPr algn="r">
              <a:lnSpc>
                <a:spcPts val="4652"/>
              </a:lnSpc>
            </a:pPr>
            <a:r>
              <a:rPr lang="en-US" sz="33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</a:p>
          <a:p>
            <a:pPr algn="r">
              <a:lnSpc>
                <a:spcPts val="4652"/>
              </a:lnSpc>
            </a:pPr>
            <a:r>
              <a:rPr lang="en-US" sz="33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</a:p>
          <a:p>
            <a:pPr algn="r">
              <a:lnSpc>
                <a:spcPts val="4512"/>
              </a:lnSpc>
            </a:pPr>
            <a:r>
              <a:rPr lang="en-US" sz="32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08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FA8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9B60EB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07851" y="1222001"/>
            <a:ext cx="8551449" cy="6896330"/>
          </a:xfrm>
          <a:custGeom>
            <a:avLst/>
            <a:gdLst/>
            <a:ahLst/>
            <a:cxnLst/>
            <a:rect r="r" b="b" t="t" l="l"/>
            <a:pathLst>
              <a:path h="6896330" w="8551449">
                <a:moveTo>
                  <a:pt x="0" y="0"/>
                </a:moveTo>
                <a:lnTo>
                  <a:pt x="8551449" y="0"/>
                </a:lnTo>
                <a:lnTo>
                  <a:pt x="8551449" y="6896330"/>
                </a:lnTo>
                <a:lnTo>
                  <a:pt x="0" y="6896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371600"/>
            <a:ext cx="7242648" cy="1466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99"/>
              </a:lnSpc>
              <a:spcBef>
                <a:spcPct val="0"/>
              </a:spcBef>
            </a:pPr>
            <a:r>
              <a:rPr lang="en-US" sz="7499">
                <a:solidFill>
                  <a:srgbClr val="6866E1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CONTEXTE &amp; PROBLÉMATIQUEA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58361" y="3234011"/>
            <a:ext cx="6941097" cy="400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161" indent="-226080" lvl="1">
              <a:lnSpc>
                <a:spcPts val="2932"/>
              </a:lnSpc>
              <a:buFont typeface="Arial"/>
              <a:buChar char="•"/>
            </a:pPr>
            <a:r>
              <a:rPr lang="en-US" sz="209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Contexte : Accélérer le déploiement d'applications tout en garantissant stabilité et disponibilité. Le DevOps fusionne développement et exploitation.</a:t>
            </a:r>
          </a:p>
          <a:p>
            <a:pPr algn="l" marL="452161" indent="-226080" lvl="1">
              <a:lnSpc>
                <a:spcPts val="2932"/>
              </a:lnSpc>
              <a:buFont typeface="Arial"/>
              <a:buChar char="•"/>
            </a:pPr>
            <a:r>
              <a:rPr lang="en-US" sz="209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Problématique : Le déploiement manuel est lent, source d'erreurs et difficile à reproduire. Il faut automatiser :</a:t>
            </a:r>
          </a:p>
          <a:p>
            <a:pPr algn="l" marL="904322" indent="-301441" lvl="2">
              <a:lnSpc>
                <a:spcPts val="2932"/>
              </a:lnSpc>
              <a:buFont typeface="Arial"/>
              <a:buChar char="⚬"/>
            </a:pPr>
            <a:r>
              <a:rPr lang="en-US" sz="209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La création de l'infrastructure</a:t>
            </a:r>
          </a:p>
          <a:p>
            <a:pPr algn="l" marL="904322" indent="-301441" lvl="2">
              <a:lnSpc>
                <a:spcPts val="2932"/>
              </a:lnSpc>
              <a:buFont typeface="Arial"/>
              <a:buChar char="⚬"/>
            </a:pPr>
            <a:r>
              <a:rPr lang="en-US" sz="209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La configuration des serveurs</a:t>
            </a:r>
          </a:p>
          <a:p>
            <a:pPr algn="l" marL="904322" indent="-301441" lvl="2">
              <a:lnSpc>
                <a:spcPts val="2932"/>
              </a:lnSpc>
              <a:buFont typeface="Arial"/>
              <a:buChar char="⚬"/>
            </a:pPr>
            <a:r>
              <a:rPr lang="en-US" sz="209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La livraison des applications</a:t>
            </a:r>
          </a:p>
          <a:p>
            <a:pPr algn="l">
              <a:lnSpc>
                <a:spcPts val="2932"/>
              </a:lnSpc>
            </a:pPr>
          </a:p>
        </p:txBody>
      </p:sp>
      <p:sp>
        <p:nvSpPr>
          <p:cNvPr name="AutoShape 5" id="5"/>
          <p:cNvSpPr/>
          <p:nvPr/>
        </p:nvSpPr>
        <p:spPr>
          <a:xfrm flipV="true">
            <a:off x="1578716" y="7721969"/>
            <a:ext cx="6920742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B60EB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9B60E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2220467" y="4907905"/>
            <a:ext cx="9074405" cy="4174226"/>
          </a:xfrm>
          <a:custGeom>
            <a:avLst/>
            <a:gdLst/>
            <a:ahLst/>
            <a:cxnLst/>
            <a:rect r="r" b="b" t="t" l="l"/>
            <a:pathLst>
              <a:path h="4174226" w="9074405">
                <a:moveTo>
                  <a:pt x="0" y="0"/>
                </a:moveTo>
                <a:lnTo>
                  <a:pt x="9074405" y="0"/>
                </a:lnTo>
                <a:lnTo>
                  <a:pt x="9074405" y="4174226"/>
                </a:lnTo>
                <a:lnTo>
                  <a:pt x="0" y="4174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281608" y="4708937"/>
            <a:ext cx="9074405" cy="4174226"/>
          </a:xfrm>
          <a:custGeom>
            <a:avLst/>
            <a:gdLst/>
            <a:ahLst/>
            <a:cxnLst/>
            <a:rect r="r" b="b" t="t" l="l"/>
            <a:pathLst>
              <a:path h="4174226" w="9074405">
                <a:moveTo>
                  <a:pt x="0" y="0"/>
                </a:moveTo>
                <a:lnTo>
                  <a:pt x="9074405" y="0"/>
                </a:lnTo>
                <a:lnTo>
                  <a:pt x="9074405" y="4174226"/>
                </a:lnTo>
                <a:lnTo>
                  <a:pt x="0" y="4174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6697563" y="5030409"/>
            <a:ext cx="9074405" cy="4174226"/>
          </a:xfrm>
          <a:custGeom>
            <a:avLst/>
            <a:gdLst/>
            <a:ahLst/>
            <a:cxnLst/>
            <a:rect r="r" b="b" t="t" l="l"/>
            <a:pathLst>
              <a:path h="4174226" w="9074405">
                <a:moveTo>
                  <a:pt x="0" y="0"/>
                </a:moveTo>
                <a:lnTo>
                  <a:pt x="9074405" y="0"/>
                </a:lnTo>
                <a:lnTo>
                  <a:pt x="9074405" y="4174226"/>
                </a:lnTo>
                <a:lnTo>
                  <a:pt x="0" y="4174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40066" y="-360334"/>
            <a:ext cx="4817598" cy="4184142"/>
          </a:xfrm>
          <a:custGeom>
            <a:avLst/>
            <a:gdLst/>
            <a:ahLst/>
            <a:cxnLst/>
            <a:rect r="r" b="b" t="t" l="l"/>
            <a:pathLst>
              <a:path h="4184142" w="4817598">
                <a:moveTo>
                  <a:pt x="0" y="0"/>
                </a:moveTo>
                <a:lnTo>
                  <a:pt x="4817598" y="0"/>
                </a:lnTo>
                <a:lnTo>
                  <a:pt x="4817598" y="4184143"/>
                </a:lnTo>
                <a:lnTo>
                  <a:pt x="0" y="41841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914841" y="-1784862"/>
            <a:ext cx="5101092" cy="4365182"/>
          </a:xfrm>
          <a:custGeom>
            <a:avLst/>
            <a:gdLst/>
            <a:ahLst/>
            <a:cxnLst/>
            <a:rect r="r" b="b" t="t" l="l"/>
            <a:pathLst>
              <a:path h="4365182" w="5101092">
                <a:moveTo>
                  <a:pt x="0" y="0"/>
                </a:moveTo>
                <a:lnTo>
                  <a:pt x="5101092" y="0"/>
                </a:lnTo>
                <a:lnTo>
                  <a:pt x="5101092" y="4365181"/>
                </a:lnTo>
                <a:lnTo>
                  <a:pt x="0" y="43651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548704" y="2898828"/>
            <a:ext cx="1461470" cy="1849961"/>
          </a:xfrm>
          <a:custGeom>
            <a:avLst/>
            <a:gdLst/>
            <a:ahLst/>
            <a:cxnLst/>
            <a:rect r="r" b="b" t="t" l="l"/>
            <a:pathLst>
              <a:path h="1849961" w="1461470">
                <a:moveTo>
                  <a:pt x="0" y="0"/>
                </a:moveTo>
                <a:lnTo>
                  <a:pt x="1461469" y="0"/>
                </a:lnTo>
                <a:lnTo>
                  <a:pt x="1461469" y="1849962"/>
                </a:lnTo>
                <a:lnTo>
                  <a:pt x="0" y="18499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109581" y="3110310"/>
            <a:ext cx="1418460" cy="1695370"/>
          </a:xfrm>
          <a:custGeom>
            <a:avLst/>
            <a:gdLst/>
            <a:ahLst/>
            <a:cxnLst/>
            <a:rect r="r" b="b" t="t" l="l"/>
            <a:pathLst>
              <a:path h="1695370" w="1418460">
                <a:moveTo>
                  <a:pt x="0" y="0"/>
                </a:moveTo>
                <a:lnTo>
                  <a:pt x="1418460" y="0"/>
                </a:lnTo>
                <a:lnTo>
                  <a:pt x="1418460" y="1695370"/>
                </a:lnTo>
                <a:lnTo>
                  <a:pt x="0" y="16953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3188" y="3187606"/>
            <a:ext cx="1222079" cy="1695370"/>
          </a:xfrm>
          <a:custGeom>
            <a:avLst/>
            <a:gdLst/>
            <a:ahLst/>
            <a:cxnLst/>
            <a:rect r="r" b="b" t="t" l="l"/>
            <a:pathLst>
              <a:path h="1695370" w="1222079">
                <a:moveTo>
                  <a:pt x="0" y="0"/>
                </a:moveTo>
                <a:lnTo>
                  <a:pt x="1222079" y="0"/>
                </a:lnTo>
                <a:lnTo>
                  <a:pt x="1222079" y="1695370"/>
                </a:lnTo>
                <a:lnTo>
                  <a:pt x="0" y="16953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186682" y="1140980"/>
            <a:ext cx="7678893" cy="1117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90"/>
              </a:lnSpc>
              <a:spcBef>
                <a:spcPct val="0"/>
              </a:spcBef>
            </a:pPr>
            <a:r>
              <a:rPr lang="en-US" sz="10403">
                <a:solidFill>
                  <a:srgbClr val="6866E1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OBJECTIFS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1738" y="5756962"/>
            <a:ext cx="3289996" cy="67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58"/>
              </a:lnSpc>
              <a:spcBef>
                <a:spcPct val="0"/>
              </a:spcBef>
            </a:pPr>
            <a:r>
              <a:rPr lang="en-US" sz="6192">
                <a:solidFill>
                  <a:srgbClr val="BF78FE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OBJECTIFS 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5705" y="6892856"/>
            <a:ext cx="3037045" cy="103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3"/>
              </a:lnSpc>
            </a:pPr>
            <a:r>
              <a:rPr lang="en-US" sz="170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Créer une infrastructure Cloud (AWS).</a:t>
            </a:r>
          </a:p>
          <a:p>
            <a:pPr algn="ctr">
              <a:lnSpc>
                <a:spcPts val="2763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047337" y="5894736"/>
            <a:ext cx="3289996" cy="67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58"/>
              </a:lnSpc>
              <a:spcBef>
                <a:spcPct val="0"/>
              </a:spcBef>
            </a:pPr>
            <a:r>
              <a:rPr lang="en-US" sz="6192">
                <a:solidFill>
                  <a:srgbClr val="BF78FE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OBJECTIFS 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89767" y="6001893"/>
            <a:ext cx="3289996" cy="67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58"/>
              </a:lnSpc>
              <a:spcBef>
                <a:spcPct val="0"/>
              </a:spcBef>
            </a:pPr>
            <a:r>
              <a:rPr lang="en-US" sz="6192">
                <a:solidFill>
                  <a:srgbClr val="BF78FE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OBJECTIFS 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86682" y="7055245"/>
            <a:ext cx="3037045" cy="69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3"/>
              </a:lnSpc>
            </a:pPr>
            <a:r>
              <a:rPr lang="en-US" b="true" sz="17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conteneuriser l'application (Docker).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97127" y="7022272"/>
            <a:ext cx="3037045" cy="103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3"/>
              </a:lnSpc>
            </a:pPr>
            <a:r>
              <a:rPr lang="en-US" sz="170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Orchestrer avec Kubernetes.</a:t>
            </a:r>
          </a:p>
          <a:p>
            <a:pPr algn="l">
              <a:lnSpc>
                <a:spcPts val="2763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-5400000">
            <a:off x="11202863" y="5063382"/>
            <a:ext cx="9074405" cy="4174226"/>
          </a:xfrm>
          <a:custGeom>
            <a:avLst/>
            <a:gdLst/>
            <a:ahLst/>
            <a:cxnLst/>
            <a:rect r="r" b="b" t="t" l="l"/>
            <a:pathLst>
              <a:path h="4174226" w="9074405">
                <a:moveTo>
                  <a:pt x="0" y="0"/>
                </a:moveTo>
                <a:lnTo>
                  <a:pt x="9074406" y="0"/>
                </a:lnTo>
                <a:lnTo>
                  <a:pt x="9074406" y="4174226"/>
                </a:lnTo>
                <a:lnTo>
                  <a:pt x="0" y="4174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129026" y="3187606"/>
            <a:ext cx="1222079" cy="1695370"/>
          </a:xfrm>
          <a:custGeom>
            <a:avLst/>
            <a:gdLst/>
            <a:ahLst/>
            <a:cxnLst/>
            <a:rect r="r" b="b" t="t" l="l"/>
            <a:pathLst>
              <a:path h="1695370" w="1222079">
                <a:moveTo>
                  <a:pt x="0" y="0"/>
                </a:moveTo>
                <a:lnTo>
                  <a:pt x="1222080" y="0"/>
                </a:lnTo>
                <a:lnTo>
                  <a:pt x="1222080" y="1695370"/>
                </a:lnTo>
                <a:lnTo>
                  <a:pt x="0" y="16953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960054" y="5894736"/>
            <a:ext cx="3289996" cy="67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58"/>
              </a:lnSpc>
              <a:spcBef>
                <a:spcPct val="0"/>
              </a:spcBef>
            </a:pPr>
            <a:r>
              <a:rPr lang="en-US" sz="6192">
                <a:solidFill>
                  <a:srgbClr val="BF78FE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OBJECTIFS 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45804" y="7022272"/>
            <a:ext cx="3037045" cy="103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3"/>
              </a:lnSpc>
            </a:pPr>
            <a:r>
              <a:rPr lang="en-US" sz="170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Automatiser avec CI/CD (GitHub Actions).</a:t>
            </a:r>
          </a:p>
          <a:p>
            <a:pPr algn="ctr">
              <a:lnSpc>
                <a:spcPts val="2763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30357" y="-902150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1"/>
                </a:lnTo>
                <a:lnTo>
                  <a:pt x="0" y="2601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15548" y="8986029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2"/>
                </a:lnTo>
                <a:lnTo>
                  <a:pt x="0" y="2601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091052">
            <a:off x="-1623234" y="5844821"/>
            <a:ext cx="6638823" cy="5976180"/>
          </a:xfrm>
          <a:custGeom>
            <a:avLst/>
            <a:gdLst/>
            <a:ahLst/>
            <a:cxnLst/>
            <a:rect r="r" b="b" t="t" l="l"/>
            <a:pathLst>
              <a:path h="5976180" w="6638823">
                <a:moveTo>
                  <a:pt x="0" y="0"/>
                </a:moveTo>
                <a:lnTo>
                  <a:pt x="6638823" y="0"/>
                </a:lnTo>
                <a:lnTo>
                  <a:pt x="6638823" y="5976180"/>
                </a:lnTo>
                <a:lnTo>
                  <a:pt x="0" y="5976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091052">
            <a:off x="13048963" y="-5984494"/>
            <a:ext cx="11291757" cy="10164688"/>
          </a:xfrm>
          <a:custGeom>
            <a:avLst/>
            <a:gdLst/>
            <a:ahLst/>
            <a:cxnLst/>
            <a:rect r="r" b="b" t="t" l="l"/>
            <a:pathLst>
              <a:path h="10164688" w="11291757">
                <a:moveTo>
                  <a:pt x="0" y="0"/>
                </a:moveTo>
                <a:lnTo>
                  <a:pt x="11291757" y="0"/>
                </a:lnTo>
                <a:lnTo>
                  <a:pt x="11291757" y="10164687"/>
                </a:lnTo>
                <a:lnTo>
                  <a:pt x="0" y="10164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17779" y="3351043"/>
            <a:ext cx="11223947" cy="6202581"/>
          </a:xfrm>
          <a:custGeom>
            <a:avLst/>
            <a:gdLst/>
            <a:ahLst/>
            <a:cxnLst/>
            <a:rect r="r" b="b" t="t" l="l"/>
            <a:pathLst>
              <a:path h="6202581" w="11223947">
                <a:moveTo>
                  <a:pt x="0" y="0"/>
                </a:moveTo>
                <a:lnTo>
                  <a:pt x="11223948" y="0"/>
                </a:lnTo>
                <a:lnTo>
                  <a:pt x="11223948" y="6202581"/>
                </a:lnTo>
                <a:lnTo>
                  <a:pt x="0" y="62025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637" t="-2610" r="-31447" b="-2918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00856" y="364198"/>
            <a:ext cx="13670388" cy="2219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22"/>
              </a:lnSpc>
            </a:pPr>
            <a:r>
              <a:rPr lang="en-US" sz="11142" spc="-222">
                <a:solidFill>
                  <a:srgbClr val="6866E1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INFRASTRUCTURE CLOUD (TERRAFORM)</a:t>
            </a:r>
          </a:p>
          <a:p>
            <a:pPr algn="ctr" marL="0" indent="0" lvl="0">
              <a:lnSpc>
                <a:spcPts val="8022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0" y="1212637"/>
            <a:ext cx="6617779" cy="36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938" indent="-242969" lvl="1">
              <a:lnSpc>
                <a:spcPts val="3646"/>
              </a:lnSpc>
              <a:buFont typeface="Arial"/>
              <a:buChar char="•"/>
            </a:pPr>
            <a:r>
              <a:rPr lang="en-US" b="true" sz="225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Provisionnement avec Terraform</a:t>
            </a:r>
          </a:p>
          <a:p>
            <a:pPr algn="l" marL="485938" indent="-242969" lvl="1">
              <a:lnSpc>
                <a:spcPts val="3646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Mise en place d’un cluster Kubernetes s</a:t>
            </a:r>
            <a:r>
              <a:rPr lang="en-US" sz="225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ur AWS</a:t>
            </a:r>
          </a:p>
          <a:p>
            <a:pPr algn="l" marL="485938" indent="-242969" lvl="1">
              <a:lnSpc>
                <a:spcPts val="3646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Création de deux machines virtuelles : Master et Worker</a:t>
            </a:r>
          </a:p>
          <a:p>
            <a:pPr algn="l" marL="485938" indent="-242969" lvl="1">
              <a:lnSpc>
                <a:spcPts val="3646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Adopti</a:t>
            </a:r>
            <a:r>
              <a:rPr lang="en-US" sz="225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on de l’approche Infrastructure as Code</a:t>
            </a:r>
          </a:p>
          <a:p>
            <a:pPr algn="l">
              <a:lnSpc>
                <a:spcPts val="364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035353" y="4493673"/>
            <a:ext cx="1164853" cy="24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"/>
              </a:lnSpc>
              <a:spcBef>
                <a:spcPct val="0"/>
              </a:spcBef>
            </a:pPr>
            <a:r>
              <a:rPr lang="en-US" b="true" sz="31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Provisionnement avec Terraform</a:t>
            </a:r>
          </a:p>
          <a:p>
            <a:pPr algn="ctr">
              <a:lnSpc>
                <a:spcPts val="517"/>
              </a:lnSpc>
              <a:spcBef>
                <a:spcPct val="0"/>
              </a:spcBef>
            </a:pPr>
            <a:r>
              <a:rPr lang="en-US" b="true" sz="31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Mise en place d’un cluster Kubernetes sur AWS</a:t>
            </a:r>
          </a:p>
          <a:p>
            <a:pPr algn="ctr">
              <a:lnSpc>
                <a:spcPts val="517"/>
              </a:lnSpc>
              <a:spcBef>
                <a:spcPct val="0"/>
              </a:spcBef>
            </a:pPr>
            <a:r>
              <a:rPr lang="en-US" b="true" sz="31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Création de deux machines virtuelles : Master et Worker</a:t>
            </a:r>
          </a:p>
          <a:p>
            <a:pPr algn="ctr">
              <a:lnSpc>
                <a:spcPts val="517"/>
              </a:lnSpc>
              <a:spcBef>
                <a:spcPct val="0"/>
              </a:spcBef>
            </a:pPr>
            <a:r>
              <a:rPr lang="en-US" b="true" sz="31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Adoption de l’approche Infrastructure as Cod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76674" y="204220"/>
            <a:ext cx="9380535" cy="4517606"/>
          </a:xfrm>
          <a:custGeom>
            <a:avLst/>
            <a:gdLst/>
            <a:ahLst/>
            <a:cxnLst/>
            <a:rect r="r" b="b" t="t" l="l"/>
            <a:pathLst>
              <a:path h="4517606" w="9380535">
                <a:moveTo>
                  <a:pt x="0" y="0"/>
                </a:moveTo>
                <a:lnTo>
                  <a:pt x="9380535" y="0"/>
                </a:lnTo>
                <a:lnTo>
                  <a:pt x="9380535" y="4517606"/>
                </a:lnTo>
                <a:lnTo>
                  <a:pt x="0" y="4517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526" t="0" r="-10536" b="-1314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5150" y="5143500"/>
            <a:ext cx="8521524" cy="4563973"/>
          </a:xfrm>
          <a:custGeom>
            <a:avLst/>
            <a:gdLst/>
            <a:ahLst/>
            <a:cxnLst/>
            <a:rect r="r" b="b" t="t" l="l"/>
            <a:pathLst>
              <a:path h="4563973" w="8521524">
                <a:moveTo>
                  <a:pt x="0" y="0"/>
                </a:moveTo>
                <a:lnTo>
                  <a:pt x="8521524" y="0"/>
                </a:lnTo>
                <a:lnTo>
                  <a:pt x="8521524" y="4563973"/>
                </a:lnTo>
                <a:lnTo>
                  <a:pt x="0" y="45639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475" t="-16052" r="-1346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200795"/>
            <a:ext cx="8776674" cy="4391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891" indent="-291446" lvl="1">
              <a:lnSpc>
                <a:spcPts val="4373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création d’un Security Group pour autoriser l’accès S</a:t>
            </a:r>
            <a:r>
              <a:rPr lang="en-US" sz="26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</a:t>
            </a:r>
          </a:p>
          <a:p>
            <a:pPr algn="l" marL="582891" indent="-291446" lvl="1">
              <a:lnSpc>
                <a:spcPts val="4373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6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éploiement de deux instances EC2 de type </a:t>
            </a:r>
            <a:r>
              <a:rPr lang="en-US" sz="26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t3.micr</a:t>
            </a:r>
            <a:r>
              <a:rPr lang="en-US" sz="26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</a:p>
          <a:p>
            <a:pPr algn="l" marL="582891" indent="-291446" lvl="1">
              <a:lnSpc>
                <a:spcPts val="4373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Instances nommées Kubernetes Master et Kubernetes Worker</a:t>
            </a:r>
          </a:p>
          <a:p>
            <a:pPr algn="l">
              <a:lnSpc>
                <a:spcPts val="4373"/>
              </a:lnSpc>
            </a:pPr>
          </a:p>
          <a:p>
            <a:pPr algn="l">
              <a:lnSpc>
                <a:spcPts val="437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5183607"/>
            <a:ext cx="9013209" cy="437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8"/>
              </a:lnSpc>
            </a:pPr>
          </a:p>
          <a:p>
            <a:pPr algn="l" marL="464970" indent="-232485" lvl="1">
              <a:lnSpc>
                <a:spcPts val="3488"/>
              </a:lnSpc>
              <a:buFont typeface="Arial"/>
              <a:buChar char="•"/>
            </a:pPr>
            <a:r>
              <a:rPr lang="en-US" sz="21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Commandes utilisées :</a:t>
            </a:r>
          </a:p>
          <a:p>
            <a:pPr algn="l" marL="464970" indent="-232485" lvl="1">
              <a:lnSpc>
                <a:spcPts val="3488"/>
              </a:lnSpc>
              <a:buFont typeface="Arial"/>
              <a:buChar char="•"/>
            </a:pPr>
            <a:r>
              <a:rPr lang="en-US" sz="21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terraform init</a:t>
            </a:r>
          </a:p>
          <a:p>
            <a:pPr algn="l" marL="464970" indent="-232485" lvl="1">
              <a:lnSpc>
                <a:spcPts val="3488"/>
              </a:lnSpc>
              <a:buFont typeface="Arial"/>
              <a:buChar char="•"/>
            </a:pPr>
            <a:r>
              <a:rPr lang="en-US" sz="21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terraform plan</a:t>
            </a:r>
          </a:p>
          <a:p>
            <a:pPr algn="l" marL="464970" indent="-232485" lvl="1">
              <a:lnSpc>
                <a:spcPts val="3488"/>
              </a:lnSpc>
              <a:buFont typeface="Arial"/>
              <a:buChar char="•"/>
            </a:pPr>
            <a:r>
              <a:rPr lang="en-US" sz="21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terraform apply</a:t>
            </a:r>
          </a:p>
          <a:p>
            <a:pPr algn="l" marL="464970" indent="-232485" lvl="1">
              <a:lnSpc>
                <a:spcPts val="3488"/>
              </a:lnSpc>
              <a:buFont typeface="Arial"/>
              <a:buChar char="•"/>
            </a:pPr>
            <a:r>
              <a:rPr lang="en-US" sz="21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1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écupération des adresses IP publ</a:t>
            </a:r>
            <a:r>
              <a:rPr lang="en-US" sz="21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iques</a:t>
            </a:r>
          </a:p>
          <a:p>
            <a:pPr algn="l" marL="464970" indent="-232485" lvl="1">
              <a:lnSpc>
                <a:spcPts val="3488"/>
              </a:lnSpc>
              <a:buFont typeface="Arial"/>
              <a:buChar char="•"/>
            </a:pPr>
            <a:r>
              <a:rPr lang="en-US" sz="21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Infrastructure prête pour Kubernete</a:t>
            </a:r>
          </a:p>
          <a:p>
            <a:pPr algn="l">
              <a:lnSpc>
                <a:spcPts val="3488"/>
              </a:lnSpc>
            </a:pPr>
          </a:p>
          <a:p>
            <a:pPr algn="l">
              <a:lnSpc>
                <a:spcPts val="3488"/>
              </a:lnSpc>
            </a:pPr>
          </a:p>
          <a:p>
            <a:pPr algn="l">
              <a:lnSpc>
                <a:spcPts val="348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30357" y="-902150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1"/>
                </a:lnTo>
                <a:lnTo>
                  <a:pt x="0" y="2601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15548" y="8986029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2"/>
                </a:lnTo>
                <a:lnTo>
                  <a:pt x="0" y="2601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091052">
            <a:off x="-1623234" y="5844821"/>
            <a:ext cx="6638823" cy="5976180"/>
          </a:xfrm>
          <a:custGeom>
            <a:avLst/>
            <a:gdLst/>
            <a:ahLst/>
            <a:cxnLst/>
            <a:rect r="r" b="b" t="t" l="l"/>
            <a:pathLst>
              <a:path h="5976180" w="6638823">
                <a:moveTo>
                  <a:pt x="0" y="0"/>
                </a:moveTo>
                <a:lnTo>
                  <a:pt x="6638823" y="0"/>
                </a:lnTo>
                <a:lnTo>
                  <a:pt x="6638823" y="5976180"/>
                </a:lnTo>
                <a:lnTo>
                  <a:pt x="0" y="5976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091052">
            <a:off x="13845981" y="-5599908"/>
            <a:ext cx="11291757" cy="8128358"/>
          </a:xfrm>
          <a:custGeom>
            <a:avLst/>
            <a:gdLst/>
            <a:ahLst/>
            <a:cxnLst/>
            <a:rect r="r" b="b" t="t" l="l"/>
            <a:pathLst>
              <a:path h="8128358" w="11291757">
                <a:moveTo>
                  <a:pt x="0" y="0"/>
                </a:moveTo>
                <a:lnTo>
                  <a:pt x="11291757" y="0"/>
                </a:lnTo>
                <a:lnTo>
                  <a:pt x="11291757" y="8128358"/>
                </a:lnTo>
                <a:lnTo>
                  <a:pt x="0" y="81283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505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547862" y="4240389"/>
            <a:ext cx="11301259" cy="1172506"/>
          </a:xfrm>
          <a:custGeom>
            <a:avLst/>
            <a:gdLst/>
            <a:ahLst/>
            <a:cxnLst/>
            <a:rect r="r" b="b" t="t" l="l"/>
            <a:pathLst>
              <a:path h="1172506" w="11301259">
                <a:moveTo>
                  <a:pt x="0" y="0"/>
                </a:moveTo>
                <a:lnTo>
                  <a:pt x="11301259" y="0"/>
                </a:lnTo>
                <a:lnTo>
                  <a:pt x="11301259" y="1172505"/>
                </a:lnTo>
                <a:lnTo>
                  <a:pt x="0" y="11725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29028" y="5703109"/>
            <a:ext cx="7928672" cy="3845406"/>
          </a:xfrm>
          <a:custGeom>
            <a:avLst/>
            <a:gdLst/>
            <a:ahLst/>
            <a:cxnLst/>
            <a:rect r="r" b="b" t="t" l="l"/>
            <a:pathLst>
              <a:path h="3845406" w="7928672">
                <a:moveTo>
                  <a:pt x="0" y="0"/>
                </a:moveTo>
                <a:lnTo>
                  <a:pt x="7928671" y="0"/>
                </a:lnTo>
                <a:lnTo>
                  <a:pt x="7928671" y="3845406"/>
                </a:lnTo>
                <a:lnTo>
                  <a:pt x="0" y="38454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96178" y="495300"/>
            <a:ext cx="15152944" cy="1201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22"/>
              </a:lnSpc>
              <a:spcBef>
                <a:spcPct val="0"/>
              </a:spcBef>
            </a:pPr>
            <a:r>
              <a:rPr lang="en-US" sz="11142">
                <a:solidFill>
                  <a:srgbClr val="6866E1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CONFIGURATION AVEC ANSIBLE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8995" y="1790001"/>
            <a:ext cx="7838224" cy="391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8"/>
              </a:lnSpc>
              <a:spcBef>
                <a:spcPct val="0"/>
              </a:spcBef>
            </a:pPr>
            <a:r>
              <a:rPr lang="en-US" sz="3163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CONFIGURATION AUTOMATISÉE DES SERVEURS</a:t>
            </a:r>
          </a:p>
          <a:p>
            <a:pPr algn="l" marL="683009" indent="-341505" lvl="1">
              <a:lnSpc>
                <a:spcPts val="4428"/>
              </a:lnSpc>
              <a:spcBef>
                <a:spcPct val="0"/>
              </a:spcBef>
              <a:buFont typeface="Arial"/>
              <a:buChar char="•"/>
            </a:pPr>
            <a:r>
              <a:rPr lang="en-US" sz="3163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UTILISATION DE ANSIBLE POUR GÉRER LES MACHINES À DISTANCE</a:t>
            </a:r>
          </a:p>
          <a:p>
            <a:pPr algn="l" marL="683009" indent="-341505" lvl="1">
              <a:lnSpc>
                <a:spcPts val="4428"/>
              </a:lnSpc>
              <a:spcBef>
                <a:spcPct val="0"/>
              </a:spcBef>
              <a:buFont typeface="Arial"/>
              <a:buChar char="•"/>
            </a:pPr>
            <a:r>
              <a:rPr lang="en-US" sz="3163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CONNEXION VIA SSH AVEC CLÉ PRIVÉE</a:t>
            </a:r>
          </a:p>
          <a:p>
            <a:pPr algn="l" marL="683009" indent="-341505" lvl="1">
              <a:lnSpc>
                <a:spcPts val="4428"/>
              </a:lnSpc>
              <a:spcBef>
                <a:spcPct val="0"/>
              </a:spcBef>
              <a:buFont typeface="Arial"/>
              <a:buChar char="•"/>
            </a:pPr>
            <a:r>
              <a:rPr lang="en-US" sz="3163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DÉFINITION DES MACHINES DANS UN FICHIER INVENTORY :</a:t>
            </a:r>
          </a:p>
          <a:p>
            <a:pPr algn="l" marL="1366018" indent="-455339" lvl="2">
              <a:lnSpc>
                <a:spcPts val="4428"/>
              </a:lnSpc>
              <a:spcBef>
                <a:spcPct val="0"/>
              </a:spcBef>
              <a:buFont typeface="Arial"/>
              <a:buChar char="⚬"/>
            </a:pPr>
            <a:r>
              <a:rPr lang="en-US" sz="3163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MASTER</a:t>
            </a:r>
          </a:p>
          <a:p>
            <a:pPr algn="l" marL="1366018" indent="-455339" lvl="2">
              <a:lnSpc>
                <a:spcPts val="4428"/>
              </a:lnSpc>
              <a:spcBef>
                <a:spcPct val="0"/>
              </a:spcBef>
              <a:buFont typeface="Arial"/>
              <a:buChar char="⚬"/>
            </a:pPr>
            <a:r>
              <a:rPr lang="en-US" sz="3163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WORKER</a:t>
            </a:r>
          </a:p>
          <a:p>
            <a:pPr algn="l">
              <a:lnSpc>
                <a:spcPts val="442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30357" y="-902150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1"/>
                </a:lnTo>
                <a:lnTo>
                  <a:pt x="0" y="2601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15548" y="8986029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2"/>
                </a:lnTo>
                <a:lnTo>
                  <a:pt x="0" y="2601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091052">
            <a:off x="-1623234" y="5844821"/>
            <a:ext cx="6638823" cy="5976180"/>
          </a:xfrm>
          <a:custGeom>
            <a:avLst/>
            <a:gdLst/>
            <a:ahLst/>
            <a:cxnLst/>
            <a:rect r="r" b="b" t="t" l="l"/>
            <a:pathLst>
              <a:path h="5976180" w="6638823">
                <a:moveTo>
                  <a:pt x="0" y="0"/>
                </a:moveTo>
                <a:lnTo>
                  <a:pt x="6638823" y="0"/>
                </a:lnTo>
                <a:lnTo>
                  <a:pt x="6638823" y="5976180"/>
                </a:lnTo>
                <a:lnTo>
                  <a:pt x="0" y="5976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091052">
            <a:off x="13048963" y="-5984494"/>
            <a:ext cx="11291757" cy="10164688"/>
          </a:xfrm>
          <a:custGeom>
            <a:avLst/>
            <a:gdLst/>
            <a:ahLst/>
            <a:cxnLst/>
            <a:rect r="r" b="b" t="t" l="l"/>
            <a:pathLst>
              <a:path h="10164688" w="11291757">
                <a:moveTo>
                  <a:pt x="0" y="0"/>
                </a:moveTo>
                <a:lnTo>
                  <a:pt x="11291757" y="0"/>
                </a:lnTo>
                <a:lnTo>
                  <a:pt x="11291757" y="10164687"/>
                </a:lnTo>
                <a:lnTo>
                  <a:pt x="0" y="10164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25462" y="2252347"/>
            <a:ext cx="8780171" cy="7529004"/>
          </a:xfrm>
          <a:custGeom>
            <a:avLst/>
            <a:gdLst/>
            <a:ahLst/>
            <a:cxnLst/>
            <a:rect r="r" b="b" t="t" l="l"/>
            <a:pathLst>
              <a:path h="7529004" w="8780171">
                <a:moveTo>
                  <a:pt x="0" y="0"/>
                </a:moveTo>
                <a:lnTo>
                  <a:pt x="8780171" y="0"/>
                </a:lnTo>
                <a:lnTo>
                  <a:pt x="8780171" y="7529004"/>
                </a:lnTo>
                <a:lnTo>
                  <a:pt x="0" y="7529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02" t="-13806" r="-1702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100837" y="394617"/>
            <a:ext cx="4927876" cy="52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b="true" sz="2651">
                <a:solidFill>
                  <a:srgbClr val="F8AA26"/>
                </a:solidFill>
                <a:latin typeface="Poppins Bold"/>
                <a:ea typeface="Poppins Bold"/>
                <a:cs typeface="Poppins Bold"/>
                <a:sym typeface="Poppins Bold"/>
              </a:rPr>
              <a:t>Installation de Docker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7548" y="1585491"/>
            <a:ext cx="8975541" cy="292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3"/>
              </a:lnSpc>
            </a:pPr>
            <a:r>
              <a:rPr lang="en-US" sz="239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Installation automatique avec Ansible</a:t>
            </a:r>
          </a:p>
          <a:p>
            <a:pPr algn="l" marL="517507" indent="-258753" lvl="1">
              <a:lnSpc>
                <a:spcPts val="3883"/>
              </a:lnSpc>
              <a:buFont typeface="Arial"/>
              <a:buChar char="•"/>
            </a:pPr>
            <a:r>
              <a:rPr lang="en-US" sz="239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Mise à jour des packages</a:t>
            </a:r>
          </a:p>
          <a:p>
            <a:pPr algn="l" marL="517507" indent="-258753" lvl="1">
              <a:lnSpc>
                <a:spcPts val="3883"/>
              </a:lnSpc>
              <a:buFont typeface="Arial"/>
              <a:buChar char="•"/>
            </a:pPr>
            <a:r>
              <a:rPr lang="en-US" sz="239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Installation de Docker</a:t>
            </a:r>
          </a:p>
          <a:p>
            <a:pPr algn="l" marL="517507" indent="-258753" lvl="1">
              <a:lnSpc>
                <a:spcPts val="3883"/>
              </a:lnSpc>
              <a:buFont typeface="Arial"/>
              <a:buChar char="•"/>
            </a:pPr>
            <a:r>
              <a:rPr lang="en-US" sz="239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Démarrage du service Docker</a:t>
            </a:r>
          </a:p>
          <a:p>
            <a:pPr algn="l" marL="517507" indent="-258753" lvl="1">
              <a:lnSpc>
                <a:spcPts val="3883"/>
              </a:lnSpc>
              <a:buFont typeface="Arial"/>
              <a:buChar char="•"/>
            </a:pPr>
            <a:r>
              <a:rPr lang="en-US" sz="239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Activation automatique au démarrage</a:t>
            </a:r>
          </a:p>
          <a:p>
            <a:pPr algn="l">
              <a:lnSpc>
                <a:spcPts val="3883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13123" y="2307907"/>
            <a:ext cx="9735942" cy="5671186"/>
          </a:xfrm>
          <a:custGeom>
            <a:avLst/>
            <a:gdLst/>
            <a:ahLst/>
            <a:cxnLst/>
            <a:rect r="r" b="b" t="t" l="l"/>
            <a:pathLst>
              <a:path h="5671186" w="9735942">
                <a:moveTo>
                  <a:pt x="0" y="0"/>
                </a:moveTo>
                <a:lnTo>
                  <a:pt x="9735942" y="0"/>
                </a:lnTo>
                <a:lnTo>
                  <a:pt x="9735942" y="5671186"/>
                </a:lnTo>
                <a:lnTo>
                  <a:pt x="0" y="5671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00837" y="394617"/>
            <a:ext cx="4927876" cy="52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b="true" sz="2651">
                <a:solidFill>
                  <a:srgbClr val="F8AA26"/>
                </a:solidFill>
                <a:latin typeface="Poppins Bold"/>
                <a:ea typeface="Poppins Bold"/>
                <a:cs typeface="Poppins Bold"/>
                <a:sym typeface="Poppins Bold"/>
              </a:rPr>
              <a:t>Installation de Kubernetes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44425" y="2203132"/>
            <a:ext cx="7107547" cy="350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14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Préparation des nœuds Kubernetes</a:t>
            </a:r>
          </a:p>
          <a:p>
            <a:pPr algn="l" marL="464166" indent="-232083" lvl="1">
              <a:lnSpc>
                <a:spcPts val="3482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Installation des dépendances</a:t>
            </a:r>
          </a:p>
          <a:p>
            <a:pPr algn="l" marL="464166" indent="-232083" lvl="1">
              <a:lnSpc>
                <a:spcPts val="3482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Installation de :</a:t>
            </a:r>
          </a:p>
          <a:p>
            <a:pPr algn="l" marL="928333" indent="-309444" lvl="2">
              <a:lnSpc>
                <a:spcPts val="3482"/>
              </a:lnSpc>
              <a:buFont typeface="Arial"/>
              <a:buChar char="⚬"/>
            </a:pPr>
            <a:r>
              <a:rPr lang="en-US" sz="214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kubeadm</a:t>
            </a:r>
          </a:p>
          <a:p>
            <a:pPr algn="l" marL="928333" indent="-309444" lvl="2">
              <a:lnSpc>
                <a:spcPts val="3482"/>
              </a:lnSpc>
              <a:buFont typeface="Arial"/>
              <a:buChar char="⚬"/>
            </a:pPr>
            <a:r>
              <a:rPr lang="en-US" sz="214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kubelet</a:t>
            </a:r>
          </a:p>
          <a:p>
            <a:pPr algn="l" marL="928333" indent="-309444" lvl="2">
              <a:lnSpc>
                <a:spcPts val="3482"/>
              </a:lnSpc>
              <a:buFont typeface="Arial"/>
              <a:buChar char="⚬"/>
            </a:pPr>
            <a:r>
              <a:rPr lang="en-US" sz="214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kubectl</a:t>
            </a:r>
          </a:p>
          <a:p>
            <a:pPr algn="l" marL="464166" indent="-232083" lvl="1">
              <a:lnSpc>
                <a:spcPts val="3482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Configuration du système</a:t>
            </a:r>
          </a:p>
          <a:p>
            <a:pPr algn="l">
              <a:lnSpc>
                <a:spcPts val="3482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30402" y="1285883"/>
            <a:ext cx="9759890" cy="8488446"/>
          </a:xfrm>
          <a:custGeom>
            <a:avLst/>
            <a:gdLst/>
            <a:ahLst/>
            <a:cxnLst/>
            <a:rect r="r" b="b" t="t" l="l"/>
            <a:pathLst>
              <a:path h="8488446" w="9759890">
                <a:moveTo>
                  <a:pt x="0" y="0"/>
                </a:moveTo>
                <a:lnTo>
                  <a:pt x="9759889" y="0"/>
                </a:lnTo>
                <a:lnTo>
                  <a:pt x="9759889" y="8488446"/>
                </a:lnTo>
                <a:lnTo>
                  <a:pt x="0" y="8488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40" r="-2330" b="-299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00837" y="394617"/>
            <a:ext cx="4927876" cy="52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b="true" sz="2651">
                <a:solidFill>
                  <a:srgbClr val="F8AA26"/>
                </a:solidFill>
                <a:latin typeface="Poppins Bold"/>
                <a:ea typeface="Poppins Bold"/>
                <a:cs typeface="Poppins Bold"/>
                <a:sym typeface="Poppins Bold"/>
              </a:rPr>
              <a:t>Initialisation du cluster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4356" y="1383223"/>
            <a:ext cx="7107547" cy="3065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14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Préparation des nœuds Kubernetes</a:t>
            </a:r>
          </a:p>
          <a:p>
            <a:pPr algn="l" marL="464166" indent="-232083" lvl="1">
              <a:lnSpc>
                <a:spcPts val="3482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Cré</a:t>
            </a:r>
            <a:r>
              <a:rPr lang="en-US" sz="214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ation du cluster Kubernetes</a:t>
            </a:r>
          </a:p>
          <a:p>
            <a:pPr algn="l" marL="464166" indent="-232083" lvl="1">
              <a:lnSpc>
                <a:spcPts val="3482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Initialisation du master avec kubeadm</a:t>
            </a:r>
          </a:p>
          <a:p>
            <a:pPr algn="l" marL="464166" indent="-232083" lvl="1">
              <a:lnSpc>
                <a:spcPts val="3482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Config</a:t>
            </a:r>
            <a:r>
              <a:rPr lang="en-US" sz="214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uration de kubectl</a:t>
            </a:r>
          </a:p>
          <a:p>
            <a:pPr algn="l" marL="464166" indent="-232083" lvl="1">
              <a:lnSpc>
                <a:spcPts val="3482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</a:t>
            </a:r>
            <a:r>
              <a:rPr lang="en-US" sz="214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nstallation du réseau (Flannel)</a:t>
            </a:r>
          </a:p>
          <a:p>
            <a:pPr algn="l">
              <a:lnSpc>
                <a:spcPts val="3482"/>
              </a:lnSpc>
            </a:pPr>
          </a:p>
          <a:p>
            <a:pPr algn="l">
              <a:lnSpc>
                <a:spcPts val="3482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30357" y="-902150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1"/>
                </a:lnTo>
                <a:lnTo>
                  <a:pt x="0" y="2601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15548" y="8986029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2"/>
                </a:lnTo>
                <a:lnTo>
                  <a:pt x="0" y="2601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091052">
            <a:off x="-1623234" y="5844821"/>
            <a:ext cx="6638823" cy="5976180"/>
          </a:xfrm>
          <a:custGeom>
            <a:avLst/>
            <a:gdLst/>
            <a:ahLst/>
            <a:cxnLst/>
            <a:rect r="r" b="b" t="t" l="l"/>
            <a:pathLst>
              <a:path h="5976180" w="6638823">
                <a:moveTo>
                  <a:pt x="0" y="0"/>
                </a:moveTo>
                <a:lnTo>
                  <a:pt x="6638823" y="0"/>
                </a:lnTo>
                <a:lnTo>
                  <a:pt x="6638823" y="5976180"/>
                </a:lnTo>
                <a:lnTo>
                  <a:pt x="0" y="5976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091052">
            <a:off x="13048963" y="-5984494"/>
            <a:ext cx="11291757" cy="10164688"/>
          </a:xfrm>
          <a:custGeom>
            <a:avLst/>
            <a:gdLst/>
            <a:ahLst/>
            <a:cxnLst/>
            <a:rect r="r" b="b" t="t" l="l"/>
            <a:pathLst>
              <a:path h="10164688" w="11291757">
                <a:moveTo>
                  <a:pt x="0" y="0"/>
                </a:moveTo>
                <a:lnTo>
                  <a:pt x="11291757" y="0"/>
                </a:lnTo>
                <a:lnTo>
                  <a:pt x="11291757" y="10164687"/>
                </a:lnTo>
                <a:lnTo>
                  <a:pt x="0" y="10164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42695" y="3945701"/>
            <a:ext cx="8498111" cy="273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1"/>
              </a:lnSpc>
            </a:pPr>
            <a:r>
              <a:rPr lang="en-US" b="true" sz="4451" i="true" u="sng">
                <a:solidFill>
                  <a:srgbClr val="F8AA26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Orchestration et déploiement avec Kubernetes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30357" y="-902150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1"/>
                </a:lnTo>
                <a:lnTo>
                  <a:pt x="0" y="2601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15548" y="8986029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2"/>
                </a:lnTo>
                <a:lnTo>
                  <a:pt x="0" y="2601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091052">
            <a:off x="-1623234" y="5844821"/>
            <a:ext cx="6638823" cy="5976180"/>
          </a:xfrm>
          <a:custGeom>
            <a:avLst/>
            <a:gdLst/>
            <a:ahLst/>
            <a:cxnLst/>
            <a:rect r="r" b="b" t="t" l="l"/>
            <a:pathLst>
              <a:path h="5976180" w="6638823">
                <a:moveTo>
                  <a:pt x="0" y="0"/>
                </a:moveTo>
                <a:lnTo>
                  <a:pt x="6638823" y="0"/>
                </a:lnTo>
                <a:lnTo>
                  <a:pt x="6638823" y="5976180"/>
                </a:lnTo>
                <a:lnTo>
                  <a:pt x="0" y="5976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091052">
            <a:off x="13048963" y="-5984494"/>
            <a:ext cx="11291757" cy="10164688"/>
          </a:xfrm>
          <a:custGeom>
            <a:avLst/>
            <a:gdLst/>
            <a:ahLst/>
            <a:cxnLst/>
            <a:rect r="r" b="b" t="t" l="l"/>
            <a:pathLst>
              <a:path h="10164688" w="11291757">
                <a:moveTo>
                  <a:pt x="0" y="0"/>
                </a:moveTo>
                <a:lnTo>
                  <a:pt x="11291757" y="0"/>
                </a:lnTo>
                <a:lnTo>
                  <a:pt x="11291757" y="10164687"/>
                </a:lnTo>
                <a:lnTo>
                  <a:pt x="0" y="10164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93994" y="2718934"/>
            <a:ext cx="12338427" cy="6539366"/>
          </a:xfrm>
          <a:custGeom>
            <a:avLst/>
            <a:gdLst/>
            <a:ahLst/>
            <a:cxnLst/>
            <a:rect r="r" b="b" t="t" l="l"/>
            <a:pathLst>
              <a:path h="6539366" w="12338427">
                <a:moveTo>
                  <a:pt x="0" y="0"/>
                </a:moveTo>
                <a:lnTo>
                  <a:pt x="12338426" y="0"/>
                </a:lnTo>
                <a:lnTo>
                  <a:pt x="12338426" y="6539366"/>
                </a:lnTo>
                <a:lnTo>
                  <a:pt x="0" y="65393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17436" y="503390"/>
            <a:ext cx="8498111" cy="52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b="true" sz="2651">
                <a:solidFill>
                  <a:srgbClr val="F8AA26"/>
                </a:solidFill>
                <a:latin typeface="Poppins Bold"/>
                <a:ea typeface="Poppins Bold"/>
                <a:cs typeface="Poppins Bold"/>
                <a:sym typeface="Poppins Bold"/>
              </a:rPr>
              <a:t>Orchestration et déploiement avec Kubernetes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1330" y="1361493"/>
            <a:ext cx="7405481" cy="910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sz="22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depl</a:t>
            </a:r>
            <a:r>
              <a:rPr lang="en-US" sz="22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oyment.yaml : </a:t>
            </a:r>
          </a:p>
          <a:p>
            <a:pPr algn="l">
              <a:lnSpc>
                <a:spcPts val="3628"/>
              </a:lnSpc>
            </a:pPr>
            <a:r>
              <a:rPr lang="en-US" sz="22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permet de lancer et gérer les pods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30357" y="-902150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1"/>
                </a:lnTo>
                <a:lnTo>
                  <a:pt x="0" y="2601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15548" y="8986029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2"/>
                </a:lnTo>
                <a:lnTo>
                  <a:pt x="0" y="2601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091052">
            <a:off x="-1623234" y="5844821"/>
            <a:ext cx="6638823" cy="5976180"/>
          </a:xfrm>
          <a:custGeom>
            <a:avLst/>
            <a:gdLst/>
            <a:ahLst/>
            <a:cxnLst/>
            <a:rect r="r" b="b" t="t" l="l"/>
            <a:pathLst>
              <a:path h="5976180" w="6638823">
                <a:moveTo>
                  <a:pt x="0" y="0"/>
                </a:moveTo>
                <a:lnTo>
                  <a:pt x="6638823" y="0"/>
                </a:lnTo>
                <a:lnTo>
                  <a:pt x="6638823" y="5976180"/>
                </a:lnTo>
                <a:lnTo>
                  <a:pt x="0" y="5976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091052">
            <a:off x="13048963" y="-5984494"/>
            <a:ext cx="11291757" cy="10164688"/>
          </a:xfrm>
          <a:custGeom>
            <a:avLst/>
            <a:gdLst/>
            <a:ahLst/>
            <a:cxnLst/>
            <a:rect r="r" b="b" t="t" l="l"/>
            <a:pathLst>
              <a:path h="10164688" w="11291757">
                <a:moveTo>
                  <a:pt x="0" y="0"/>
                </a:moveTo>
                <a:lnTo>
                  <a:pt x="11291757" y="0"/>
                </a:lnTo>
                <a:lnTo>
                  <a:pt x="11291757" y="10164687"/>
                </a:lnTo>
                <a:lnTo>
                  <a:pt x="0" y="10164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17436" y="503390"/>
            <a:ext cx="8498111" cy="52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b="true" sz="2651">
                <a:solidFill>
                  <a:srgbClr val="F8AA26"/>
                </a:solidFill>
                <a:latin typeface="Poppins Bold"/>
                <a:ea typeface="Poppins Bold"/>
                <a:cs typeface="Poppins Bold"/>
                <a:sym typeface="Poppins Bold"/>
              </a:rPr>
              <a:t>Orchestration et déploiement avec Kubernetes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3270" y="1175326"/>
            <a:ext cx="9948989" cy="1368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sz="22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</a:t>
            </a:r>
            <a:r>
              <a:rPr lang="en-US" sz="22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ervice.yaml:</a:t>
            </a:r>
          </a:p>
          <a:p>
            <a:pPr algn="l">
              <a:lnSpc>
                <a:spcPts val="3628"/>
              </a:lnSpc>
            </a:pPr>
            <a:r>
              <a:rPr lang="en-US" sz="22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permet d’accéder à l’application depuis l’extérieur</a:t>
            </a:r>
          </a:p>
          <a:p>
            <a:pPr algn="l">
              <a:lnSpc>
                <a:spcPts val="3628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696684" y="2197400"/>
            <a:ext cx="10528127" cy="7698693"/>
          </a:xfrm>
          <a:custGeom>
            <a:avLst/>
            <a:gdLst/>
            <a:ahLst/>
            <a:cxnLst/>
            <a:rect r="r" b="b" t="t" l="l"/>
            <a:pathLst>
              <a:path h="7698693" w="10528127">
                <a:moveTo>
                  <a:pt x="0" y="0"/>
                </a:moveTo>
                <a:lnTo>
                  <a:pt x="10528126" y="0"/>
                </a:lnTo>
                <a:lnTo>
                  <a:pt x="10528126" y="7698693"/>
                </a:lnTo>
                <a:lnTo>
                  <a:pt x="0" y="76986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8312795" y="6340249"/>
            <a:ext cx="10008973" cy="8229600"/>
          </a:xfrm>
          <a:custGeom>
            <a:avLst/>
            <a:gdLst/>
            <a:ahLst/>
            <a:cxnLst/>
            <a:rect r="r" b="b" t="t" l="l"/>
            <a:pathLst>
              <a:path h="8229600" w="10008973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30357" y="-902150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1"/>
                </a:lnTo>
                <a:lnTo>
                  <a:pt x="0" y="2601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15548" y="8986029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2"/>
                </a:lnTo>
                <a:lnTo>
                  <a:pt x="0" y="2601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091052">
            <a:off x="-1623234" y="5844821"/>
            <a:ext cx="6638823" cy="5976180"/>
          </a:xfrm>
          <a:custGeom>
            <a:avLst/>
            <a:gdLst/>
            <a:ahLst/>
            <a:cxnLst/>
            <a:rect r="r" b="b" t="t" l="l"/>
            <a:pathLst>
              <a:path h="5976180" w="6638823">
                <a:moveTo>
                  <a:pt x="0" y="0"/>
                </a:moveTo>
                <a:lnTo>
                  <a:pt x="6638823" y="0"/>
                </a:lnTo>
                <a:lnTo>
                  <a:pt x="6638823" y="5976180"/>
                </a:lnTo>
                <a:lnTo>
                  <a:pt x="0" y="5976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091052">
            <a:off x="13048963" y="-5984494"/>
            <a:ext cx="11291757" cy="10164688"/>
          </a:xfrm>
          <a:custGeom>
            <a:avLst/>
            <a:gdLst/>
            <a:ahLst/>
            <a:cxnLst/>
            <a:rect r="r" b="b" t="t" l="l"/>
            <a:pathLst>
              <a:path h="10164688" w="11291757">
                <a:moveTo>
                  <a:pt x="0" y="0"/>
                </a:moveTo>
                <a:lnTo>
                  <a:pt x="11291757" y="0"/>
                </a:lnTo>
                <a:lnTo>
                  <a:pt x="11291757" y="10164687"/>
                </a:lnTo>
                <a:lnTo>
                  <a:pt x="0" y="10164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56169" y="2864851"/>
            <a:ext cx="16152266" cy="4966822"/>
          </a:xfrm>
          <a:custGeom>
            <a:avLst/>
            <a:gdLst/>
            <a:ahLst/>
            <a:cxnLst/>
            <a:rect r="r" b="b" t="t" l="l"/>
            <a:pathLst>
              <a:path h="4966822" w="16152266">
                <a:moveTo>
                  <a:pt x="0" y="0"/>
                </a:moveTo>
                <a:lnTo>
                  <a:pt x="16152266" y="0"/>
                </a:lnTo>
                <a:lnTo>
                  <a:pt x="16152266" y="4966822"/>
                </a:lnTo>
                <a:lnTo>
                  <a:pt x="0" y="496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769997"/>
            <a:ext cx="7405481" cy="182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sz="22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configm</a:t>
            </a:r>
            <a:r>
              <a:rPr lang="en-US" sz="22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ap.yaml:</a:t>
            </a:r>
          </a:p>
          <a:p>
            <a:pPr algn="l">
              <a:lnSpc>
                <a:spcPts val="3628"/>
              </a:lnSpc>
            </a:pPr>
            <a:r>
              <a:rPr lang="en-US" sz="22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érer la configuration sans toucher au code.</a:t>
            </a:r>
          </a:p>
          <a:p>
            <a:pPr algn="l">
              <a:lnSpc>
                <a:spcPts val="3628"/>
              </a:lnSpc>
            </a:pPr>
          </a:p>
          <a:p>
            <a:pPr algn="l">
              <a:lnSpc>
                <a:spcPts val="3628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30357" y="-902150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1"/>
                </a:lnTo>
                <a:lnTo>
                  <a:pt x="0" y="2601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15548" y="8986029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2"/>
                </a:lnTo>
                <a:lnTo>
                  <a:pt x="0" y="2601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091052">
            <a:off x="-1623234" y="5844821"/>
            <a:ext cx="6638823" cy="5976180"/>
          </a:xfrm>
          <a:custGeom>
            <a:avLst/>
            <a:gdLst/>
            <a:ahLst/>
            <a:cxnLst/>
            <a:rect r="r" b="b" t="t" l="l"/>
            <a:pathLst>
              <a:path h="5976180" w="6638823">
                <a:moveTo>
                  <a:pt x="0" y="0"/>
                </a:moveTo>
                <a:lnTo>
                  <a:pt x="6638823" y="0"/>
                </a:lnTo>
                <a:lnTo>
                  <a:pt x="6638823" y="5976180"/>
                </a:lnTo>
                <a:lnTo>
                  <a:pt x="0" y="5976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091052">
            <a:off x="13048963" y="-5984494"/>
            <a:ext cx="11291757" cy="10164688"/>
          </a:xfrm>
          <a:custGeom>
            <a:avLst/>
            <a:gdLst/>
            <a:ahLst/>
            <a:cxnLst/>
            <a:rect r="r" b="b" t="t" l="l"/>
            <a:pathLst>
              <a:path h="10164688" w="11291757">
                <a:moveTo>
                  <a:pt x="0" y="0"/>
                </a:moveTo>
                <a:lnTo>
                  <a:pt x="11291757" y="0"/>
                </a:lnTo>
                <a:lnTo>
                  <a:pt x="11291757" y="10164687"/>
                </a:lnTo>
                <a:lnTo>
                  <a:pt x="0" y="10164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29789" y="2879892"/>
            <a:ext cx="8365125" cy="6378408"/>
          </a:xfrm>
          <a:custGeom>
            <a:avLst/>
            <a:gdLst/>
            <a:ahLst/>
            <a:cxnLst/>
            <a:rect r="r" b="b" t="t" l="l"/>
            <a:pathLst>
              <a:path h="6378408" w="8365125">
                <a:moveTo>
                  <a:pt x="0" y="0"/>
                </a:moveTo>
                <a:lnTo>
                  <a:pt x="8365125" y="0"/>
                </a:lnTo>
                <a:lnTo>
                  <a:pt x="8365125" y="6378408"/>
                </a:lnTo>
                <a:lnTo>
                  <a:pt x="0" y="63784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769997"/>
            <a:ext cx="10174400" cy="182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sz="22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Dockerfile:</a:t>
            </a:r>
          </a:p>
          <a:p>
            <a:pPr algn="l">
              <a:lnSpc>
                <a:spcPts val="3628"/>
              </a:lnSpc>
            </a:pPr>
            <a:r>
              <a:rPr lang="en-US" sz="22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 fichi</a:t>
            </a:r>
            <a:r>
              <a:rPr lang="en-US" sz="22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er qui explique à Docker comment créer l’application.</a:t>
            </a:r>
          </a:p>
          <a:p>
            <a:pPr algn="l">
              <a:lnSpc>
                <a:spcPts val="3628"/>
              </a:lnSpc>
            </a:pPr>
          </a:p>
          <a:p>
            <a:pPr algn="l">
              <a:lnSpc>
                <a:spcPts val="3628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30357" y="-902150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1"/>
                </a:lnTo>
                <a:lnTo>
                  <a:pt x="0" y="2601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15548" y="8986029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2"/>
                </a:lnTo>
                <a:lnTo>
                  <a:pt x="0" y="2601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091052">
            <a:off x="-1623234" y="5844821"/>
            <a:ext cx="6638823" cy="5976180"/>
          </a:xfrm>
          <a:custGeom>
            <a:avLst/>
            <a:gdLst/>
            <a:ahLst/>
            <a:cxnLst/>
            <a:rect r="r" b="b" t="t" l="l"/>
            <a:pathLst>
              <a:path h="5976180" w="6638823">
                <a:moveTo>
                  <a:pt x="0" y="0"/>
                </a:moveTo>
                <a:lnTo>
                  <a:pt x="6638823" y="0"/>
                </a:lnTo>
                <a:lnTo>
                  <a:pt x="6638823" y="5976180"/>
                </a:lnTo>
                <a:lnTo>
                  <a:pt x="0" y="5976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091052">
            <a:off x="13048963" y="-5984494"/>
            <a:ext cx="11291757" cy="10164688"/>
          </a:xfrm>
          <a:custGeom>
            <a:avLst/>
            <a:gdLst/>
            <a:ahLst/>
            <a:cxnLst/>
            <a:rect r="r" b="b" t="t" l="l"/>
            <a:pathLst>
              <a:path h="10164688" w="11291757">
                <a:moveTo>
                  <a:pt x="0" y="0"/>
                </a:moveTo>
                <a:lnTo>
                  <a:pt x="11291757" y="0"/>
                </a:lnTo>
                <a:lnTo>
                  <a:pt x="11291757" y="10164687"/>
                </a:lnTo>
                <a:lnTo>
                  <a:pt x="0" y="10164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6178" y="3906422"/>
            <a:ext cx="14705896" cy="2095590"/>
          </a:xfrm>
          <a:custGeom>
            <a:avLst/>
            <a:gdLst/>
            <a:ahLst/>
            <a:cxnLst/>
            <a:rect r="r" b="b" t="t" l="l"/>
            <a:pathLst>
              <a:path h="2095590" w="14705896">
                <a:moveTo>
                  <a:pt x="0" y="0"/>
                </a:moveTo>
                <a:lnTo>
                  <a:pt x="14705896" y="0"/>
                </a:lnTo>
                <a:lnTo>
                  <a:pt x="14705896" y="2095590"/>
                </a:lnTo>
                <a:lnTo>
                  <a:pt x="0" y="20955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692043" y="895350"/>
            <a:ext cx="10567257" cy="512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4"/>
              </a:lnSpc>
            </a:pPr>
            <a:r>
              <a:rPr lang="en-US" sz="25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Déploiement sur AWS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4965" y="2068470"/>
            <a:ext cx="4588711" cy="1823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8"/>
              </a:lnSpc>
              <a:spcBef>
                <a:spcPct val="0"/>
              </a:spcBef>
            </a:pPr>
            <a:r>
              <a:rPr lang="en-US" sz="22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2Vérific</a:t>
            </a:r>
            <a:r>
              <a:rPr lang="en-US" sz="22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ation des services</a:t>
            </a:r>
          </a:p>
          <a:p>
            <a:pPr algn="l">
              <a:lnSpc>
                <a:spcPts val="3628"/>
              </a:lnSpc>
              <a:spcBef>
                <a:spcPct val="0"/>
              </a:spcBef>
            </a:pPr>
            <a:r>
              <a:rPr lang="en-US" sz="22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 </a:t>
            </a:r>
            <a:r>
              <a:rPr lang="en-US" sz="22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Commande exécutée :</a:t>
            </a:r>
          </a:p>
          <a:p>
            <a:pPr algn="l">
              <a:lnSpc>
                <a:spcPts val="3628"/>
              </a:lnSpc>
              <a:spcBef>
                <a:spcPct val="0"/>
              </a:spcBef>
            </a:pPr>
            <a:r>
              <a:rPr lang="en-US" sz="22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kubectl get svc</a:t>
            </a:r>
          </a:p>
          <a:p>
            <a:pPr algn="l">
              <a:lnSpc>
                <a:spcPts val="362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30357" y="-902150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1"/>
                </a:lnTo>
                <a:lnTo>
                  <a:pt x="0" y="2601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15548" y="8986029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2"/>
                </a:lnTo>
                <a:lnTo>
                  <a:pt x="0" y="2601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091052">
            <a:off x="-1623234" y="5844821"/>
            <a:ext cx="6638823" cy="5976180"/>
          </a:xfrm>
          <a:custGeom>
            <a:avLst/>
            <a:gdLst/>
            <a:ahLst/>
            <a:cxnLst/>
            <a:rect r="r" b="b" t="t" l="l"/>
            <a:pathLst>
              <a:path h="5976180" w="6638823">
                <a:moveTo>
                  <a:pt x="0" y="0"/>
                </a:moveTo>
                <a:lnTo>
                  <a:pt x="6638823" y="0"/>
                </a:lnTo>
                <a:lnTo>
                  <a:pt x="6638823" y="5976180"/>
                </a:lnTo>
                <a:lnTo>
                  <a:pt x="0" y="5976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091052">
            <a:off x="13048963" y="-5984494"/>
            <a:ext cx="11291757" cy="10164688"/>
          </a:xfrm>
          <a:custGeom>
            <a:avLst/>
            <a:gdLst/>
            <a:ahLst/>
            <a:cxnLst/>
            <a:rect r="r" b="b" t="t" l="l"/>
            <a:pathLst>
              <a:path h="10164688" w="11291757">
                <a:moveTo>
                  <a:pt x="0" y="0"/>
                </a:moveTo>
                <a:lnTo>
                  <a:pt x="11291757" y="0"/>
                </a:lnTo>
                <a:lnTo>
                  <a:pt x="11291757" y="10164687"/>
                </a:lnTo>
                <a:lnTo>
                  <a:pt x="0" y="10164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09362" y="1699791"/>
            <a:ext cx="13069276" cy="6403945"/>
          </a:xfrm>
          <a:custGeom>
            <a:avLst/>
            <a:gdLst/>
            <a:ahLst/>
            <a:cxnLst/>
            <a:rect r="r" b="b" t="t" l="l"/>
            <a:pathLst>
              <a:path h="6403945" w="13069276">
                <a:moveTo>
                  <a:pt x="0" y="0"/>
                </a:moveTo>
                <a:lnTo>
                  <a:pt x="13069276" y="0"/>
                </a:lnTo>
                <a:lnTo>
                  <a:pt x="13069276" y="6403945"/>
                </a:lnTo>
                <a:lnTo>
                  <a:pt x="0" y="64039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67774" y="914400"/>
            <a:ext cx="10567257" cy="910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sz="22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Déploiement : Image publiée sur Docker Hub (hasnaeamejoud/flask-api).</a:t>
            </a:r>
          </a:p>
          <a:p>
            <a:pPr algn="l">
              <a:lnSpc>
                <a:spcPts val="3628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30357" y="-902150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1"/>
                </a:lnTo>
                <a:lnTo>
                  <a:pt x="0" y="2601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15548" y="8986029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2"/>
                </a:lnTo>
                <a:lnTo>
                  <a:pt x="0" y="2601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091052">
            <a:off x="-2290712" y="5875077"/>
            <a:ext cx="6638823" cy="5976180"/>
          </a:xfrm>
          <a:custGeom>
            <a:avLst/>
            <a:gdLst/>
            <a:ahLst/>
            <a:cxnLst/>
            <a:rect r="r" b="b" t="t" l="l"/>
            <a:pathLst>
              <a:path h="5976180" w="6638823">
                <a:moveTo>
                  <a:pt x="0" y="0"/>
                </a:moveTo>
                <a:lnTo>
                  <a:pt x="6638824" y="0"/>
                </a:lnTo>
                <a:lnTo>
                  <a:pt x="6638824" y="5976180"/>
                </a:lnTo>
                <a:lnTo>
                  <a:pt x="0" y="5976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091052">
            <a:off x="13048963" y="-5984494"/>
            <a:ext cx="11291757" cy="10164688"/>
          </a:xfrm>
          <a:custGeom>
            <a:avLst/>
            <a:gdLst/>
            <a:ahLst/>
            <a:cxnLst/>
            <a:rect r="r" b="b" t="t" l="l"/>
            <a:pathLst>
              <a:path h="10164688" w="11291757">
                <a:moveTo>
                  <a:pt x="0" y="0"/>
                </a:moveTo>
                <a:lnTo>
                  <a:pt x="11291757" y="0"/>
                </a:lnTo>
                <a:lnTo>
                  <a:pt x="11291757" y="10164687"/>
                </a:lnTo>
                <a:lnTo>
                  <a:pt x="0" y="10164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2034321"/>
            <a:ext cx="18492925" cy="5524761"/>
          </a:xfrm>
          <a:custGeom>
            <a:avLst/>
            <a:gdLst/>
            <a:ahLst/>
            <a:cxnLst/>
            <a:rect r="r" b="b" t="t" l="l"/>
            <a:pathLst>
              <a:path h="5524761" w="18492925">
                <a:moveTo>
                  <a:pt x="0" y="0"/>
                </a:moveTo>
                <a:lnTo>
                  <a:pt x="18492925" y="0"/>
                </a:lnTo>
                <a:lnTo>
                  <a:pt x="18492925" y="5524761"/>
                </a:lnTo>
                <a:lnTo>
                  <a:pt x="0" y="55247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529976" y="7551677"/>
            <a:ext cx="10567257" cy="9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3623" indent="-241812" lvl="1">
              <a:lnSpc>
                <a:spcPts val="3628"/>
              </a:lnSpc>
              <a:buFont typeface="Arial"/>
              <a:buChar char="•"/>
            </a:pPr>
            <a:r>
              <a:rPr lang="en-US" b="true" sz="22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Mise en place d’un pi</a:t>
            </a:r>
            <a:r>
              <a:rPr lang="en-US" b="true" sz="22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peline CI/CD avec GitHub Actions</a:t>
            </a:r>
          </a:p>
          <a:p>
            <a:pPr algn="l">
              <a:lnSpc>
                <a:spcPts val="3628"/>
              </a:lnSpc>
            </a:pPr>
            <a:r>
              <a:rPr lang="en-US" sz="22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• Automatisation du </a:t>
            </a:r>
            <a:r>
              <a:rPr lang="en-US" sz="22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build et du push de l’image Docker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6169" y="745542"/>
            <a:ext cx="10567257" cy="452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sz="22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Pipeline CI/CD avec GitHub Actions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30357" y="-902150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1"/>
                </a:lnTo>
                <a:lnTo>
                  <a:pt x="0" y="2601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15548" y="8986029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2"/>
                </a:lnTo>
                <a:lnTo>
                  <a:pt x="0" y="2601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091052">
            <a:off x="-2290712" y="5875077"/>
            <a:ext cx="6638823" cy="5976180"/>
          </a:xfrm>
          <a:custGeom>
            <a:avLst/>
            <a:gdLst/>
            <a:ahLst/>
            <a:cxnLst/>
            <a:rect r="r" b="b" t="t" l="l"/>
            <a:pathLst>
              <a:path h="5976180" w="6638823">
                <a:moveTo>
                  <a:pt x="0" y="0"/>
                </a:moveTo>
                <a:lnTo>
                  <a:pt x="6638824" y="0"/>
                </a:lnTo>
                <a:lnTo>
                  <a:pt x="6638824" y="5976180"/>
                </a:lnTo>
                <a:lnTo>
                  <a:pt x="0" y="5976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091052">
            <a:off x="13048963" y="-5984494"/>
            <a:ext cx="11291757" cy="10164688"/>
          </a:xfrm>
          <a:custGeom>
            <a:avLst/>
            <a:gdLst/>
            <a:ahLst/>
            <a:cxnLst/>
            <a:rect r="r" b="b" t="t" l="l"/>
            <a:pathLst>
              <a:path h="10164688" w="11291757">
                <a:moveTo>
                  <a:pt x="0" y="0"/>
                </a:moveTo>
                <a:lnTo>
                  <a:pt x="11291757" y="0"/>
                </a:lnTo>
                <a:lnTo>
                  <a:pt x="11291757" y="10164687"/>
                </a:lnTo>
                <a:lnTo>
                  <a:pt x="0" y="10164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56169" y="2477045"/>
            <a:ext cx="11301259" cy="3856555"/>
          </a:xfrm>
          <a:custGeom>
            <a:avLst/>
            <a:gdLst/>
            <a:ahLst/>
            <a:cxnLst/>
            <a:rect r="r" b="b" t="t" l="l"/>
            <a:pathLst>
              <a:path h="3856555" w="11301259">
                <a:moveTo>
                  <a:pt x="0" y="0"/>
                </a:moveTo>
                <a:lnTo>
                  <a:pt x="11301259" y="0"/>
                </a:lnTo>
                <a:lnTo>
                  <a:pt x="11301259" y="3856555"/>
                </a:lnTo>
                <a:lnTo>
                  <a:pt x="0" y="3856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552471" y="5936228"/>
            <a:ext cx="11301259" cy="4011947"/>
          </a:xfrm>
          <a:custGeom>
            <a:avLst/>
            <a:gdLst/>
            <a:ahLst/>
            <a:cxnLst/>
            <a:rect r="r" b="b" t="t" l="l"/>
            <a:pathLst>
              <a:path h="4011947" w="11301259">
                <a:moveTo>
                  <a:pt x="0" y="0"/>
                </a:moveTo>
                <a:lnTo>
                  <a:pt x="11301259" y="0"/>
                </a:lnTo>
                <a:lnTo>
                  <a:pt x="11301259" y="4011947"/>
                </a:lnTo>
                <a:lnTo>
                  <a:pt x="0" y="40119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36265" y="1186420"/>
            <a:ext cx="10567257" cy="1823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sz="22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Tests applicatifs sur Minikube</a:t>
            </a:r>
          </a:p>
          <a:p>
            <a:pPr algn="l">
              <a:lnSpc>
                <a:spcPts val="3628"/>
              </a:lnSpc>
            </a:pPr>
            <a:r>
              <a:rPr lang="en-US" sz="22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test-app : accessible sur http://127.0.0.1:58866</a:t>
            </a:r>
          </a:p>
          <a:p>
            <a:pPr algn="l">
              <a:lnSpc>
                <a:spcPts val="3628"/>
              </a:lnSpc>
            </a:pPr>
          </a:p>
          <a:p>
            <a:pPr algn="l">
              <a:lnSpc>
                <a:spcPts val="3628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906798" y="119483"/>
            <a:ext cx="10567257" cy="9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sz="2240" b="true">
                <a:solidFill>
                  <a:srgbClr val="F8AA26"/>
                </a:solidFill>
                <a:latin typeface="Poppins Bold"/>
                <a:ea typeface="Poppins Bold"/>
                <a:cs typeface="Poppins Bold"/>
                <a:sym typeface="Poppins Bold"/>
              </a:rPr>
              <a:t>Validation du Déploiement</a:t>
            </a:r>
          </a:p>
          <a:p>
            <a:pPr algn="l">
              <a:lnSpc>
                <a:spcPts val="3628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30357" y="-902150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1"/>
                </a:lnTo>
                <a:lnTo>
                  <a:pt x="0" y="2601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15548" y="8986029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2"/>
                </a:lnTo>
                <a:lnTo>
                  <a:pt x="0" y="2601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091052">
            <a:off x="-2290712" y="5875077"/>
            <a:ext cx="6638823" cy="5976180"/>
          </a:xfrm>
          <a:custGeom>
            <a:avLst/>
            <a:gdLst/>
            <a:ahLst/>
            <a:cxnLst/>
            <a:rect r="r" b="b" t="t" l="l"/>
            <a:pathLst>
              <a:path h="5976180" w="6638823">
                <a:moveTo>
                  <a:pt x="0" y="0"/>
                </a:moveTo>
                <a:lnTo>
                  <a:pt x="6638824" y="0"/>
                </a:lnTo>
                <a:lnTo>
                  <a:pt x="6638824" y="5976180"/>
                </a:lnTo>
                <a:lnTo>
                  <a:pt x="0" y="5976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091052">
            <a:off x="13048963" y="-5984494"/>
            <a:ext cx="11291757" cy="10164688"/>
          </a:xfrm>
          <a:custGeom>
            <a:avLst/>
            <a:gdLst/>
            <a:ahLst/>
            <a:cxnLst/>
            <a:rect r="r" b="b" t="t" l="l"/>
            <a:pathLst>
              <a:path h="10164688" w="11291757">
                <a:moveTo>
                  <a:pt x="0" y="0"/>
                </a:moveTo>
                <a:lnTo>
                  <a:pt x="11291757" y="0"/>
                </a:lnTo>
                <a:lnTo>
                  <a:pt x="11291757" y="10164687"/>
                </a:lnTo>
                <a:lnTo>
                  <a:pt x="0" y="10164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8842" y="1699791"/>
            <a:ext cx="11301259" cy="4252099"/>
          </a:xfrm>
          <a:custGeom>
            <a:avLst/>
            <a:gdLst/>
            <a:ahLst/>
            <a:cxnLst/>
            <a:rect r="r" b="b" t="t" l="l"/>
            <a:pathLst>
              <a:path h="4252099" w="11301259">
                <a:moveTo>
                  <a:pt x="0" y="0"/>
                </a:moveTo>
                <a:lnTo>
                  <a:pt x="11301259" y="0"/>
                </a:lnTo>
                <a:lnTo>
                  <a:pt x="11301259" y="4252099"/>
                </a:lnTo>
                <a:lnTo>
                  <a:pt x="0" y="42520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55312" y="4732016"/>
            <a:ext cx="8653314" cy="5840987"/>
          </a:xfrm>
          <a:custGeom>
            <a:avLst/>
            <a:gdLst/>
            <a:ahLst/>
            <a:cxnLst/>
            <a:rect r="r" b="b" t="t" l="l"/>
            <a:pathLst>
              <a:path h="5840987" w="8653314">
                <a:moveTo>
                  <a:pt x="0" y="0"/>
                </a:moveTo>
                <a:lnTo>
                  <a:pt x="8653314" y="0"/>
                </a:lnTo>
                <a:lnTo>
                  <a:pt x="8653314" y="5840987"/>
                </a:lnTo>
                <a:lnTo>
                  <a:pt x="0" y="58409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35844" y="914400"/>
            <a:ext cx="10567257" cy="9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sz="22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hello-minikube : accessible sur http://127.0.0.1:59209</a:t>
            </a:r>
          </a:p>
          <a:p>
            <a:pPr algn="l">
              <a:lnSpc>
                <a:spcPts val="3628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4EEA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04106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783394" y="7462704"/>
            <a:ext cx="0" cy="514563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802444" y="-2572817"/>
            <a:ext cx="0" cy="514563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77897" y="-5779144"/>
            <a:ext cx="14635371" cy="12033527"/>
          </a:xfrm>
          <a:custGeom>
            <a:avLst/>
            <a:gdLst/>
            <a:ahLst/>
            <a:cxnLst/>
            <a:rect r="r" b="b" t="t" l="l"/>
            <a:pathLst>
              <a:path h="12033527" w="14635371">
                <a:moveTo>
                  <a:pt x="0" y="0"/>
                </a:moveTo>
                <a:lnTo>
                  <a:pt x="14635371" y="0"/>
                </a:lnTo>
                <a:lnTo>
                  <a:pt x="14635371" y="12033528"/>
                </a:lnTo>
                <a:lnTo>
                  <a:pt x="0" y="120335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96126" y="444150"/>
            <a:ext cx="7747874" cy="6579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66"/>
              </a:lnSpc>
            </a:pPr>
            <a:r>
              <a:rPr lang="en-US" sz="18833">
                <a:solidFill>
                  <a:srgbClr val="6866E1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CONCLUSION</a:t>
            </a:r>
          </a:p>
          <a:p>
            <a:pPr algn="ctr" marL="0" indent="0" lvl="0">
              <a:lnSpc>
                <a:spcPts val="26366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995996" y="7317810"/>
            <a:ext cx="6049393" cy="5290528"/>
          </a:xfrm>
          <a:custGeom>
            <a:avLst/>
            <a:gdLst/>
            <a:ahLst/>
            <a:cxnLst/>
            <a:rect r="r" b="b" t="t" l="l"/>
            <a:pathLst>
              <a:path h="5290528" w="6049393">
                <a:moveTo>
                  <a:pt x="0" y="0"/>
                </a:moveTo>
                <a:lnTo>
                  <a:pt x="6049392" y="0"/>
                </a:lnTo>
                <a:lnTo>
                  <a:pt x="6049392" y="5290527"/>
                </a:lnTo>
                <a:lnTo>
                  <a:pt x="0" y="5290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771515" y="-3149182"/>
            <a:ext cx="6049393" cy="5290528"/>
          </a:xfrm>
          <a:custGeom>
            <a:avLst/>
            <a:gdLst/>
            <a:ahLst/>
            <a:cxnLst/>
            <a:rect r="r" b="b" t="t" l="l"/>
            <a:pathLst>
              <a:path h="5290528" w="6049393">
                <a:moveTo>
                  <a:pt x="0" y="0"/>
                </a:moveTo>
                <a:lnTo>
                  <a:pt x="6049392" y="0"/>
                </a:lnTo>
                <a:lnTo>
                  <a:pt x="6049392" y="5290527"/>
                </a:lnTo>
                <a:lnTo>
                  <a:pt x="0" y="5290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706557">
            <a:off x="15918995" y="438894"/>
            <a:ext cx="4433872" cy="4665492"/>
          </a:xfrm>
          <a:custGeom>
            <a:avLst/>
            <a:gdLst/>
            <a:ahLst/>
            <a:cxnLst/>
            <a:rect r="r" b="b" t="t" l="l"/>
            <a:pathLst>
              <a:path h="4665492" w="4433872">
                <a:moveTo>
                  <a:pt x="0" y="0"/>
                </a:moveTo>
                <a:lnTo>
                  <a:pt x="4433872" y="0"/>
                </a:lnTo>
                <a:lnTo>
                  <a:pt x="4433872" y="4665492"/>
                </a:lnTo>
                <a:lnTo>
                  <a:pt x="0" y="46654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077429" y="4589564"/>
            <a:ext cx="8117004" cy="7049716"/>
          </a:xfrm>
          <a:custGeom>
            <a:avLst/>
            <a:gdLst/>
            <a:ahLst/>
            <a:cxnLst/>
            <a:rect r="r" b="b" t="t" l="l"/>
            <a:pathLst>
              <a:path h="7049716" w="8117004">
                <a:moveTo>
                  <a:pt x="0" y="0"/>
                </a:moveTo>
                <a:lnTo>
                  <a:pt x="8117004" y="0"/>
                </a:lnTo>
                <a:lnTo>
                  <a:pt x="8117004" y="7049717"/>
                </a:lnTo>
                <a:lnTo>
                  <a:pt x="0" y="70497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98266" y="3454346"/>
            <a:ext cx="11696524" cy="5052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6"/>
              </a:lnSpc>
            </a:pPr>
            <a:r>
              <a:rPr lang="en-US" sz="247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 réalisé :</a:t>
            </a:r>
          </a:p>
          <a:p>
            <a:pPr algn="l">
              <a:lnSpc>
                <a:spcPts val="4016"/>
              </a:lnSpc>
            </a:pPr>
            <a:r>
              <a:rPr lang="en-US" sz="247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Création de l’infrastructure cloud</a:t>
            </a:r>
          </a:p>
          <a:p>
            <a:pPr algn="l">
              <a:lnSpc>
                <a:spcPts val="4016"/>
              </a:lnSpc>
            </a:pPr>
            <a:r>
              <a:rPr lang="en-US" sz="247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Configuration automatique des machines </a:t>
            </a:r>
          </a:p>
          <a:p>
            <a:pPr algn="l">
              <a:lnSpc>
                <a:spcPts val="4016"/>
              </a:lnSpc>
            </a:pPr>
            <a:r>
              <a:rPr lang="en-US" sz="247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Création de l’application </a:t>
            </a:r>
          </a:p>
          <a:p>
            <a:pPr algn="l">
              <a:lnSpc>
                <a:spcPts val="4016"/>
              </a:lnSpc>
            </a:pPr>
            <a:r>
              <a:rPr lang="en-US" sz="247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Conteneurisation avec Docker</a:t>
            </a:r>
          </a:p>
          <a:p>
            <a:pPr algn="l">
              <a:lnSpc>
                <a:spcPts val="4016"/>
              </a:lnSpc>
            </a:pPr>
            <a:r>
              <a:rPr lang="en-US" sz="247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Déploiement sur Kubernetes</a:t>
            </a:r>
          </a:p>
          <a:p>
            <a:pPr algn="l">
              <a:lnSpc>
                <a:spcPts val="4016"/>
              </a:lnSpc>
            </a:pPr>
            <a:r>
              <a:rPr lang="en-US" sz="247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Automatisation CI/CD (GitHub Actions)</a:t>
            </a:r>
          </a:p>
          <a:p>
            <a:pPr algn="l">
              <a:lnSpc>
                <a:spcPts val="4016"/>
              </a:lnSpc>
            </a:pPr>
          </a:p>
          <a:p>
            <a:pPr algn="l">
              <a:lnSpc>
                <a:spcPts val="4016"/>
              </a:lnSpc>
            </a:pPr>
          </a:p>
          <a:p>
            <a:pPr algn="l">
              <a:lnSpc>
                <a:spcPts val="4016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4EEA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04106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764344" y="5958420"/>
            <a:ext cx="0" cy="514563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802444" y="-2572817"/>
            <a:ext cx="0" cy="514563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77897" y="-5779144"/>
            <a:ext cx="14635371" cy="12033527"/>
          </a:xfrm>
          <a:custGeom>
            <a:avLst/>
            <a:gdLst/>
            <a:ahLst/>
            <a:cxnLst/>
            <a:rect r="r" b="b" t="t" l="l"/>
            <a:pathLst>
              <a:path h="12033527" w="14635371">
                <a:moveTo>
                  <a:pt x="0" y="0"/>
                </a:moveTo>
                <a:lnTo>
                  <a:pt x="14635371" y="0"/>
                </a:lnTo>
                <a:lnTo>
                  <a:pt x="14635371" y="12033528"/>
                </a:lnTo>
                <a:lnTo>
                  <a:pt x="0" y="120335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995996" y="5507733"/>
            <a:ext cx="10008973" cy="8229600"/>
          </a:xfrm>
          <a:custGeom>
            <a:avLst/>
            <a:gdLst/>
            <a:ahLst/>
            <a:cxnLst/>
            <a:rect r="r" b="b" t="t" l="l"/>
            <a:pathLst>
              <a:path h="8229600" w="10008973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19702" y="2582224"/>
            <a:ext cx="7747874" cy="323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66"/>
              </a:lnSpc>
            </a:pPr>
            <a:r>
              <a:rPr lang="en-US" sz="18833">
                <a:solidFill>
                  <a:srgbClr val="6866E1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MERCI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995996" y="7317810"/>
            <a:ext cx="6049393" cy="5290528"/>
          </a:xfrm>
          <a:custGeom>
            <a:avLst/>
            <a:gdLst/>
            <a:ahLst/>
            <a:cxnLst/>
            <a:rect r="r" b="b" t="t" l="l"/>
            <a:pathLst>
              <a:path h="5290528" w="6049393">
                <a:moveTo>
                  <a:pt x="0" y="0"/>
                </a:moveTo>
                <a:lnTo>
                  <a:pt x="6049392" y="0"/>
                </a:lnTo>
                <a:lnTo>
                  <a:pt x="6049392" y="5290527"/>
                </a:lnTo>
                <a:lnTo>
                  <a:pt x="0" y="5290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771515" y="-3149182"/>
            <a:ext cx="6049393" cy="5290528"/>
          </a:xfrm>
          <a:custGeom>
            <a:avLst/>
            <a:gdLst/>
            <a:ahLst/>
            <a:cxnLst/>
            <a:rect r="r" b="b" t="t" l="l"/>
            <a:pathLst>
              <a:path h="5290528" w="6049393">
                <a:moveTo>
                  <a:pt x="0" y="0"/>
                </a:moveTo>
                <a:lnTo>
                  <a:pt x="6049392" y="0"/>
                </a:lnTo>
                <a:lnTo>
                  <a:pt x="6049392" y="5290527"/>
                </a:lnTo>
                <a:lnTo>
                  <a:pt x="0" y="5290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706557">
            <a:off x="13859100" y="1432047"/>
            <a:ext cx="4433872" cy="4665492"/>
          </a:xfrm>
          <a:custGeom>
            <a:avLst/>
            <a:gdLst/>
            <a:ahLst/>
            <a:cxnLst/>
            <a:rect r="r" b="b" t="t" l="l"/>
            <a:pathLst>
              <a:path h="4665492" w="4433872">
                <a:moveTo>
                  <a:pt x="0" y="0"/>
                </a:moveTo>
                <a:lnTo>
                  <a:pt x="4433873" y="0"/>
                </a:lnTo>
                <a:lnTo>
                  <a:pt x="4433873" y="4665493"/>
                </a:lnTo>
                <a:lnTo>
                  <a:pt x="0" y="46654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77897" y="2433562"/>
            <a:ext cx="8117004" cy="7049716"/>
          </a:xfrm>
          <a:custGeom>
            <a:avLst/>
            <a:gdLst/>
            <a:ahLst/>
            <a:cxnLst/>
            <a:rect r="r" b="b" t="t" l="l"/>
            <a:pathLst>
              <a:path h="7049716" w="8117004">
                <a:moveTo>
                  <a:pt x="0" y="0"/>
                </a:moveTo>
                <a:lnTo>
                  <a:pt x="8117004" y="0"/>
                </a:lnTo>
                <a:lnTo>
                  <a:pt x="8117004" y="7049716"/>
                </a:lnTo>
                <a:lnTo>
                  <a:pt x="0" y="70497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DAHExe7LSlM</dc:identifier>
  <dcterms:modified xsi:type="dcterms:W3CDTF">2011-08-01T06:04:30Z</dcterms:modified>
  <cp:revision>1</cp:revision>
  <dc:title>Copie de Blue Futuristic Illustrative Artificial Intelligence Project Presentation</dc:title>
</cp:coreProperties>
</file>